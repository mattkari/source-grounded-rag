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 Opening.
Good afternoon. My name is [name], from [affiliation]. Thank you to the organising committee.
Today I want to show you a research tool, and one design decision inside it that I think matters for anyone in this room who works with documents: this assistant refuses to answer when its document collection does not support an answer.
TECH CHECK before you start: share the browser window, not the whole screen. Zoom to 125–150%.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0:45–2:30 — The problem.
Three failures, and they compound.
(1) Fluency without sourcing. A language model produces text that has the register of scholarship without the apparatus of scholarship.
(2) Invented citations. This is the one most of us have seen — a citation with the right shape, the right author, a plausible year, and no referent.
(3) No audit trail. This is the deepest one. Even when the answer is correct, you cannot demonstrate that it is correct.
Land the bottom line slowly — it is the sentence the whole talk hangs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2:30–4:00 — Why this audience.
I am not presenting a general-purpose chatbot. I am presenting an instrument for working with a defined body of documents — and cooperatives are, institutionally, a disclosure problem.
Member control means nothing if members cannot verify. An audit finding that cannot point at a page is an opinion. And in our own work as researchers, a citation that does not resolve is a defect, not a stylistic choice.
So the requirement I set myself was: every sentence the system produces must be traceable to 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4:00–5:00 — The commitment. Slow down here; this is the thesis of the talk.
Every other design decision follows from this one sentence.
Note the second line carefully, because it is a claim about epistemics, not about engineering: when this system refuses, it is not telling you the answer is unknowable. It is telling you that THIS collection does not contain it. Those are different statements, and conflating them would be its own kind of dishonesty.
Pause after the quote. Let it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5:00–6:15 — What it is.
The corpus is deliberately small — one thesis — because the point of the prototype is the discipline of the pipeline, not the size of the library.
The important word on this slide is 'authorised'. The collection is declared in advance. The system cannot reach outside it, and it cannot quietly supplement it from what the model happens to know.
Point at the screenshot: the collection and its size are printed above the chat box, permanently.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6:15–8:00 — The pipeline. Walk left to right, roughly 20 seconds per stage.
(1) Ingest: provenance is captured at extraction time, and it is never rewritten afterwards. A chunk is never allowed to straddle a chapter boundary — a passage that spans two chapters would produce a citation that is false at one end.
(2) Retrieve: cosine similarity, five passages. Deliberately simple and inspectable.
(3) Ground: this is the stage the next slide is about.
(4) Validate: blocking checks, before display.
(5) Resolve: the page numbers are produced here, by code — not by the model.
The banner matters for reproducibility: the demo you are about to see is not a separate implementation of the research tool. It is the same pipeline with a different front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8:00–9:45 — The mechanism. This is the technical heart of the talk. Take your time.
On the left is literally what the generation model is given: the passage text, the chapter, the section — and no page number anywhere in its input.
The model refers to evidence by an opaque handle, E1. It cannot cite a page, because it has never been told one.
On the right, after generation, the renderer replaces that handle with a footnote number and looks the page up in the stored provenance.
So the usual failure — a fabricated page reference — is not made unlikely by better prompting. It is made structurally impossible. That distinction is the contribution.
If one idea survives this talk, make it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9:45–10:45 — Three outcomes.
Most systems have one outcome: an answer. This one has three, and the third is treated as a first-class result rather than an error path.
'Partial' matters more than it looks. Real scholarly questions are usually half-covered by any given source, and a system that has to choose between answering fully and refusing fully will overreach.
Last line: because the refusal is assembled by code from retrieval metadata, it does not depend on the model's willingness to decline. Prompt pressure cannot dissolve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10:45–12:15 — Demo 1. Screenshots, not a live call — deliberately, so the timing is exact.
Read one sentence of the answer aloud so the room hears the register: it is careful, it attributes, and it does not overstate.
Then walk the four annotations. The one to dwell on is the third: the system volunteers the limits of its own answer. That is not politeness — it is the part a reviewer needs.
If someone asks whether the prose is the model's: yes. What is NOT the model's is every page number on that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12:15–13:00 — Citations.
This is what a reader opens when they want to check a claim, and it is the reason I built the provenance layer first.
Worth stating explicitly: these are the PRINTED page numbers from the thesis, not PDF page indices. The two differ by the front matter, and a citation that quietly used the wrong one would be useless to anyone trying to verify it.
Where a page number was not printed on the source page, the system says so and flags it for human verification rather than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13:00–14:30 — Demo 2. This is the slide I most want people to remember.
Ask the room, rhetorically: what would your usual assistant do with this question? It would answer. Fluently. With confident structure. And nothing in the output would tell you the source said nothing.
Notice the wording on screen: 'This collection does not contain sufficient evidence.' Not 'I don't know', not 'there is no research on this'. It is a claim about the collection, and it is one a reader can check.
The colour choice is deliberate and I would defend it: refusals rendered as errors teach users to treat them as malfunctions to be worked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14:30–16:00 — Demo 3.
This question is harder than it looks: the thesis describes both models, but it does not rank them on transparency. So an honest system has to do two things at once — report what is stated, and mark what it inferred.
Read the second bullet on the screenshot aloud. Note the phrase 'which is an inference from the structures described, not the author's published position'.
For a literature review this is the difference between a usable draft and an unusable one. If the tool blended inference into attribution, every sentence would need re-checking against the source — and the tool would have saved nobody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16:00–17:15 — Evaluator view.
Everything on the left is one click below the answer. The design principle: a lecturer should never have to look at it, and an examiner should never have to ask for it.
The caption on the table is doing real work — 'similarity scores are diagnostics, not a measure of confidence'. Cosine similarity tells you a passage is lexically and semantically close. It does not tell you the answer is true, and presenting it as a percentage confidence would be a category error.
The four checks on the right run before anything is displayed. If one fails, the answer is shown with a plain warning that it is not certified grounded — because in a research instrument, a failed check is itself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17:15–18:00 — Status. Be straightforward here; an audience of researchers respects a clear boundary between what is built and what is claimed.
Left: what runs today, end to end.
Right: say this out loud rather than skipping it. One document. English only. The retrieval is the simplest thing that works. And the comparison that would actually test my research question — the same model answering with and without retrieved evidence — is designed but not yet run.
If someone presses on effectiveness claims, this slide is your honest answer: I am presenting an instrument and its design rationale, not an evaluation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18:00–19:00 — Next steps.
The first column is the one that connects back to this congress: nothing in the pipeline is specific to a law thesis. Point it at a cooperative's statutes, its audit reports, or a national cooperatives act, and the same guarantees hold — page-level citation, refusal when the corpus is silent.
The second column is the real experiment, and the design constraint on it is strict: the two conditions must differ in exactly one variable, the presence of retrieved evidence. Anything else that differs invalidates the comparison.
Third: what I would measure. Note that refusal correctness needs questions the corpus genuinely cannot answer — building that set honestly is harder than it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19:00–20:00 — Close and questions.
Return to the opening: the problem was never that these systems are sometimes wrong. It is that being wrong looks exactly like being right. Grounding and refusal are how you tell the two apart.
LIKELY QUESTIONS:
· 'Does it hallucinate?' — Fabricated PAGE references are structurally impossible; the model never sees a page. Misreading a passage is still possible, which is why the verbatim source is one click away.
· 'Which model?' — Configurable. Embedding and generation are separate roles, and the index records which embedding model built it, so a mismatched model cannot query it.
· 'Can it read Turkish?' — Not yet tested; extraction is language-agnostic, embeddings are the open question. Say so plainly.
· 'Cost / can I run it?' — Runs on a laptop; the corpus is small; the index is a single file.
· 'Is it public?' — Yes, repository link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F"/>
        </a:solidFill>
      </p:bgPr>
    </p:bg>
    <p:spTree>
      <p:nvGrpSpPr>
        <p:cNvPr id="1" name=""/>
        <p:cNvGrpSpPr/>
        <p:nvPr/>
      </p:nvGrpSpPr>
      <p:grpSpPr>
        <a:xfrm>
          <a:off x="0" y="0"/>
          <a:ext cx="0" cy="0"/>
          <a:chOff x="0" y="0"/>
          <a:chExt cx="0" cy="0"/>
        </a:xfrm>
      </p:grpSpPr>
      <p:sp>
        <p:nvSpPr>
          <p:cNvPr id="2" name="Shape 0"/>
          <p:cNvSpPr/>
          <p:nvPr/>
        </p:nvSpPr>
        <p:spPr>
          <a:xfrm>
            <a:off x="8778240" y="-1463040"/>
            <a:ext cx="5669280" cy="5669280"/>
          </a:xfrm>
          <a:prstGeom prst="ellipse">
            <a:avLst/>
          </a:prstGeom>
          <a:solidFill>
            <a:srgbClr val="2E5E7E">
              <a:alpha val="28000"/>
            </a:srgbClr>
          </a:solidFill>
          <a:ln w="12700">
            <a:solidFill>
              <a:srgbClr val="333333"/>
            </a:solidFill>
            <a:prstDash val="solid"/>
          </a:ln>
        </p:spPr>
      </p:sp>
      <p:sp>
        <p:nvSpPr>
          <p:cNvPr id="3" name="Shape 1"/>
          <p:cNvSpPr/>
          <p:nvPr/>
        </p:nvSpPr>
        <p:spPr>
          <a:xfrm>
            <a:off x="10241280" y="4206240"/>
            <a:ext cx="3108960" cy="3108960"/>
          </a:xfrm>
          <a:prstGeom prst="ellipse">
            <a:avLst/>
          </a:prstGeom>
          <a:solidFill>
            <a:srgbClr val="D08C1E">
              <a:alpha val="18000"/>
            </a:srgbClr>
          </a:solidFill>
          <a:ln w="12700">
            <a:solidFill>
              <a:srgbClr val="333333"/>
            </a:solidFill>
            <a:prstDash val="solid"/>
          </a:ln>
        </p:spPr>
      </p:sp>
      <p:sp>
        <p:nvSpPr>
          <p:cNvPr id="4" name="Text 2"/>
          <p:cNvSpPr/>
          <p:nvPr/>
        </p:nvSpPr>
        <p:spPr>
          <a:xfrm>
            <a:off x="594360" y="1051560"/>
            <a:ext cx="8686800" cy="274320"/>
          </a:xfrm>
          <a:prstGeom prst="rect">
            <a:avLst/>
          </a:prstGeom>
          <a:noFill/>
          <a:ln/>
        </p:spPr>
        <p:txBody>
          <a:bodyPr wrap="square" lIns="0" tIns="0" rIns="0" bIns="0" rtlCol="0" anchor="ctr"/>
          <a:lstStyle/>
          <a:p>
            <a:pPr indent="0" marL="0">
              <a:buNone/>
            </a:pPr>
            <a:r>
              <a:rPr lang="en-US" sz="1250" b="1" spc="120" kern="0" dirty="0">
                <a:solidFill>
                  <a:srgbClr val="D08C1E"/>
                </a:solidFill>
                <a:latin typeface="Calibri" pitchFamily="34" charset="0"/>
                <a:ea typeface="Calibri" pitchFamily="34" charset="-122"/>
                <a:cs typeface="Calibri" pitchFamily="34" charset="-120"/>
              </a:rPr>
              <a:t>28th International Turkish Cooperative Congress  ·  ITCC-2026</a:t>
            </a:r>
            <a:endParaRPr lang="en-US" sz="1250" dirty="0"/>
          </a:p>
        </p:txBody>
      </p:sp>
      <p:sp>
        <p:nvSpPr>
          <p:cNvPr id="5" name="Text 3"/>
          <p:cNvSpPr/>
          <p:nvPr/>
        </p:nvSpPr>
        <p:spPr>
          <a:xfrm>
            <a:off x="594360" y="1600200"/>
            <a:ext cx="8778240" cy="182880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Source-Grounded</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Research Assistant</a:t>
            </a:r>
            <a:endParaRPr lang="en-US" sz="4600" dirty="0"/>
          </a:p>
        </p:txBody>
      </p:sp>
      <p:sp>
        <p:nvSpPr>
          <p:cNvPr id="6" name="Text 4"/>
          <p:cNvSpPr/>
          <p:nvPr/>
        </p:nvSpPr>
        <p:spPr>
          <a:xfrm>
            <a:off x="594360" y="3611880"/>
            <a:ext cx="8046720" cy="822960"/>
          </a:xfrm>
          <a:prstGeom prst="rect">
            <a:avLst/>
          </a:prstGeom>
          <a:noFill/>
          <a:ln/>
        </p:spPr>
        <p:txBody>
          <a:bodyPr wrap="square" lIns="0" tIns="0" rIns="0" bIns="0" rtlCol="0" anchor="ctr"/>
          <a:lstStyle/>
          <a:p>
            <a:pPr indent="0" marL="0">
              <a:lnSpc>
                <a:spcPts val="2600"/>
              </a:lnSpc>
              <a:buNone/>
            </a:pPr>
            <a:r>
              <a:rPr lang="en-US" sz="1700" dirty="0">
                <a:solidFill>
                  <a:srgbClr val="C6D6E4"/>
                </a:solidFill>
                <a:latin typeface="Calibri" pitchFamily="34" charset="0"/>
                <a:ea typeface="Calibri" pitchFamily="34" charset="-122"/>
                <a:cs typeface="Calibri" pitchFamily="34" charset="-120"/>
              </a:rPr>
              <a:t>Retrieval-Augmented Generation that cites what it used — and refuses when the evidence is not there</a:t>
            </a:r>
            <a:endParaRPr lang="en-US" sz="1700" dirty="0"/>
          </a:p>
        </p:txBody>
      </p:sp>
      <p:sp>
        <p:nvSpPr>
          <p:cNvPr id="7" name="Text 5"/>
          <p:cNvSpPr/>
          <p:nvPr/>
        </p:nvSpPr>
        <p:spPr>
          <a:xfrm>
            <a:off x="594360" y="5029200"/>
            <a:ext cx="7772400" cy="1097280"/>
          </a:xfrm>
          <a:prstGeom prst="rect">
            <a:avLst/>
          </a:prstGeom>
          <a:noFill/>
          <a:ln/>
        </p:spPr>
        <p:txBody>
          <a:bodyPr wrap="square" lIns="0" tIns="0" rIns="0" bIns="0" rtlCol="0" anchor="ctr"/>
          <a:lstStyle/>
          <a:p>
            <a:pPr indent="0" marL="0">
              <a:lnSpc>
                <a:spcPts val="2200"/>
              </a:lnSpc>
              <a:buNone/>
            </a:pPr>
            <a:r>
              <a:rPr lang="en-US" sz="1600" b="1" dirty="0">
                <a:solidFill>
                  <a:srgbClr val="FFFFFF"/>
                </a:solidFill>
                <a:latin typeface="Calibri" pitchFamily="34" charset="0"/>
                <a:ea typeface="Calibri" pitchFamily="34" charset="-122"/>
                <a:cs typeface="Calibri" pitchFamily="34" charset="-120"/>
              </a:rPr>
              <a:t>Matt Karimov</a:t>
            </a:r>
            <a:endParaRPr lang="en-US" sz="1600" dirty="0"/>
          </a:p>
          <a:p>
            <a:pPr indent="0" marL="0">
              <a:lnSpc>
                <a:spcPts val="2200"/>
              </a:lnSpc>
              <a:buNone/>
            </a:pPr>
            <a:r>
              <a:rPr lang="en-US" sz="1300" dirty="0">
                <a:solidFill>
                  <a:srgbClr val="C6D6E4"/>
                </a:solidFill>
                <a:latin typeface="Calibri" pitchFamily="34" charset="0"/>
                <a:ea typeface="Calibri" pitchFamily="34" charset="-122"/>
                <a:cs typeface="Calibri" pitchFamily="34" charset="-120"/>
              </a:rPr>
              <a:t>[ Affiliation — department, university ]</a:t>
            </a:r>
            <a:endParaRPr lang="en-US" sz="1600" dirty="0"/>
          </a:p>
          <a:p>
            <a:pPr indent="0" marL="0">
              <a:lnSpc>
                <a:spcPts val="2200"/>
              </a:lnSpc>
              <a:buNone/>
            </a:pPr>
            <a:r>
              <a:rPr lang="en-US" sz="1200" dirty="0">
                <a:solidFill>
                  <a:srgbClr val="93A9BD"/>
                </a:solidFill>
                <a:latin typeface="Calibri" pitchFamily="34" charset="0"/>
                <a:ea typeface="Calibri" pitchFamily="34" charset="-122"/>
                <a:cs typeface="Calibri" pitchFamily="34" charset="-120"/>
              </a:rPr>
              <a:t>14 August 2026  ·  Online session 15:30–16:30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Asking a general chatbot about the literature</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94360" y="1874520"/>
            <a:ext cx="3429000" cy="2240280"/>
          </a:xfrm>
          <a:prstGeom prst="roundRect">
            <a:avLst>
              <a:gd name="adj" fmla="val 3265"/>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7" name="Shape 5"/>
          <p:cNvSpPr/>
          <p:nvPr/>
        </p:nvSpPr>
        <p:spPr>
          <a:xfrm>
            <a:off x="886968" y="2103120"/>
            <a:ext cx="420624" cy="420624"/>
          </a:xfrm>
          <a:prstGeom prst="ellipse">
            <a:avLst/>
          </a:prstGeom>
          <a:solidFill>
            <a:srgbClr val="12263F"/>
          </a:solidFill>
          <a:ln w="12700">
            <a:solidFill>
              <a:srgbClr val="12263F"/>
            </a:solidFill>
            <a:prstDash val="solid"/>
          </a:ln>
        </p:spPr>
      </p:sp>
      <p:sp>
        <p:nvSpPr>
          <p:cNvPr id="8" name="Text 6"/>
          <p:cNvSpPr/>
          <p:nvPr/>
        </p:nvSpPr>
        <p:spPr>
          <a:xfrm>
            <a:off x="886968" y="21031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886968" y="2670048"/>
            <a:ext cx="2834640" cy="320040"/>
          </a:xfrm>
          <a:prstGeom prst="rect">
            <a:avLst/>
          </a:prstGeom>
          <a:noFill/>
          <a:ln/>
        </p:spPr>
        <p:txBody>
          <a:bodyPr wrap="square" lIns="0" tIns="0" rIns="0" bIns="0" rtlCol="0" anchor="ctr"/>
          <a:lstStyle/>
          <a:p>
            <a:pPr indent="0" marL="0">
              <a:buNone/>
            </a:pPr>
            <a:r>
              <a:rPr lang="en-US" sz="1700" b="1" dirty="0">
                <a:solidFill>
                  <a:srgbClr val="12263F"/>
                </a:solidFill>
                <a:latin typeface="Cambria" pitchFamily="34" charset="0"/>
                <a:ea typeface="Cambria" pitchFamily="34" charset="-122"/>
                <a:cs typeface="Cambria" pitchFamily="34" charset="-120"/>
              </a:rPr>
              <a:t>Fluent, not sourced</a:t>
            </a:r>
            <a:endParaRPr lang="en-US" sz="1700" dirty="0"/>
          </a:p>
        </p:txBody>
      </p:sp>
      <p:sp>
        <p:nvSpPr>
          <p:cNvPr id="10" name="Text 8"/>
          <p:cNvSpPr/>
          <p:nvPr/>
        </p:nvSpPr>
        <p:spPr>
          <a:xfrm>
            <a:off x="886968" y="3044952"/>
            <a:ext cx="2880360" cy="914400"/>
          </a:xfrm>
          <a:prstGeom prst="rect">
            <a:avLst/>
          </a:prstGeom>
          <a:noFill/>
          <a:ln/>
        </p:spPr>
        <p:txBody>
          <a:bodyPr wrap="square" lIns="0" tIns="0" rIns="0" bIns="0" rtlCol="0" anchor="ctr"/>
          <a:lstStyle/>
          <a:p>
            <a:pPr indent="0" marL="0">
              <a:lnSpc>
                <a:spcPts val="1900"/>
              </a:lnSpc>
              <a:buNone/>
            </a:pPr>
            <a:r>
              <a:rPr lang="en-US" sz="1350" dirty="0">
                <a:solidFill>
                  <a:srgbClr val="5D6B7A"/>
                </a:solidFill>
                <a:latin typeface="Calibri" pitchFamily="34" charset="0"/>
                <a:ea typeface="Calibri" pitchFamily="34" charset="-122"/>
                <a:cs typeface="Calibri" pitchFamily="34" charset="-120"/>
              </a:rPr>
              <a:t>The prose reads like scholarship. The provenance behind it is simply absent.</a:t>
            </a:r>
            <a:endParaRPr lang="en-US" sz="1350" dirty="0"/>
          </a:p>
        </p:txBody>
      </p:sp>
      <p:sp>
        <p:nvSpPr>
          <p:cNvPr id="11" name="Shape 9"/>
          <p:cNvSpPr/>
          <p:nvPr/>
        </p:nvSpPr>
        <p:spPr>
          <a:xfrm>
            <a:off x="4270248" y="1874520"/>
            <a:ext cx="3429000" cy="2240280"/>
          </a:xfrm>
          <a:prstGeom prst="roundRect">
            <a:avLst>
              <a:gd name="adj" fmla="val 3265"/>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2" name="Shape 10"/>
          <p:cNvSpPr/>
          <p:nvPr/>
        </p:nvSpPr>
        <p:spPr>
          <a:xfrm>
            <a:off x="4562856" y="2103120"/>
            <a:ext cx="420624" cy="420624"/>
          </a:xfrm>
          <a:prstGeom prst="ellipse">
            <a:avLst/>
          </a:prstGeom>
          <a:solidFill>
            <a:srgbClr val="12263F"/>
          </a:solidFill>
          <a:ln w="12700">
            <a:solidFill>
              <a:srgbClr val="12263F"/>
            </a:solidFill>
            <a:prstDash val="solid"/>
          </a:ln>
        </p:spPr>
      </p:sp>
      <p:sp>
        <p:nvSpPr>
          <p:cNvPr id="13" name="Text 11"/>
          <p:cNvSpPr/>
          <p:nvPr/>
        </p:nvSpPr>
        <p:spPr>
          <a:xfrm>
            <a:off x="4562856" y="21031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4562856" y="2670048"/>
            <a:ext cx="2834640" cy="320040"/>
          </a:xfrm>
          <a:prstGeom prst="rect">
            <a:avLst/>
          </a:prstGeom>
          <a:noFill/>
          <a:ln/>
        </p:spPr>
        <p:txBody>
          <a:bodyPr wrap="square" lIns="0" tIns="0" rIns="0" bIns="0" rtlCol="0" anchor="ctr"/>
          <a:lstStyle/>
          <a:p>
            <a:pPr indent="0" marL="0">
              <a:buNone/>
            </a:pPr>
            <a:r>
              <a:rPr lang="en-US" sz="1700" b="1" dirty="0">
                <a:solidFill>
                  <a:srgbClr val="12263F"/>
                </a:solidFill>
                <a:latin typeface="Cambria" pitchFamily="34" charset="0"/>
                <a:ea typeface="Cambria" pitchFamily="34" charset="-122"/>
                <a:cs typeface="Cambria" pitchFamily="34" charset="-120"/>
              </a:rPr>
              <a:t>Invented citations</a:t>
            </a:r>
            <a:endParaRPr lang="en-US" sz="1700" dirty="0"/>
          </a:p>
        </p:txBody>
      </p:sp>
      <p:sp>
        <p:nvSpPr>
          <p:cNvPr id="15" name="Text 13"/>
          <p:cNvSpPr/>
          <p:nvPr/>
        </p:nvSpPr>
        <p:spPr>
          <a:xfrm>
            <a:off x="4562856" y="3044952"/>
            <a:ext cx="2880360" cy="914400"/>
          </a:xfrm>
          <a:prstGeom prst="rect">
            <a:avLst/>
          </a:prstGeom>
          <a:noFill/>
          <a:ln/>
        </p:spPr>
        <p:txBody>
          <a:bodyPr wrap="square" lIns="0" tIns="0" rIns="0" bIns="0" rtlCol="0" anchor="ctr"/>
          <a:lstStyle/>
          <a:p>
            <a:pPr indent="0" marL="0">
              <a:lnSpc>
                <a:spcPts val="1900"/>
              </a:lnSpc>
              <a:buNone/>
            </a:pPr>
            <a:r>
              <a:rPr lang="en-US" sz="1350" dirty="0">
                <a:solidFill>
                  <a:srgbClr val="5D6B7A"/>
                </a:solidFill>
                <a:latin typeface="Calibri" pitchFamily="34" charset="0"/>
                <a:ea typeface="Calibri" pitchFamily="34" charset="-122"/>
                <a:cs typeface="Calibri" pitchFamily="34" charset="-120"/>
              </a:rPr>
              <a:t>Author, year and page numbers that look correct and refer to nothing that exists.</a:t>
            </a:r>
            <a:endParaRPr lang="en-US" sz="1350" dirty="0"/>
          </a:p>
        </p:txBody>
      </p:sp>
      <p:sp>
        <p:nvSpPr>
          <p:cNvPr id="16" name="Shape 14"/>
          <p:cNvSpPr/>
          <p:nvPr/>
        </p:nvSpPr>
        <p:spPr>
          <a:xfrm>
            <a:off x="7946136" y="1874520"/>
            <a:ext cx="3429000" cy="2240280"/>
          </a:xfrm>
          <a:prstGeom prst="roundRect">
            <a:avLst>
              <a:gd name="adj" fmla="val 3265"/>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7" name="Shape 15"/>
          <p:cNvSpPr/>
          <p:nvPr/>
        </p:nvSpPr>
        <p:spPr>
          <a:xfrm>
            <a:off x="8238744" y="2103120"/>
            <a:ext cx="420624" cy="420624"/>
          </a:xfrm>
          <a:prstGeom prst="ellipse">
            <a:avLst/>
          </a:prstGeom>
          <a:solidFill>
            <a:srgbClr val="12263F"/>
          </a:solidFill>
          <a:ln w="12700">
            <a:solidFill>
              <a:srgbClr val="12263F"/>
            </a:solidFill>
            <a:prstDash val="solid"/>
          </a:ln>
        </p:spPr>
      </p:sp>
      <p:sp>
        <p:nvSpPr>
          <p:cNvPr id="18" name="Text 16"/>
          <p:cNvSpPr/>
          <p:nvPr/>
        </p:nvSpPr>
        <p:spPr>
          <a:xfrm>
            <a:off x="8238744" y="21031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8238744" y="2670048"/>
            <a:ext cx="2834640" cy="320040"/>
          </a:xfrm>
          <a:prstGeom prst="rect">
            <a:avLst/>
          </a:prstGeom>
          <a:noFill/>
          <a:ln/>
        </p:spPr>
        <p:txBody>
          <a:bodyPr wrap="square" lIns="0" tIns="0" rIns="0" bIns="0" rtlCol="0" anchor="ctr"/>
          <a:lstStyle/>
          <a:p>
            <a:pPr indent="0" marL="0">
              <a:buNone/>
            </a:pPr>
            <a:r>
              <a:rPr lang="en-US" sz="1700" b="1" dirty="0">
                <a:solidFill>
                  <a:srgbClr val="12263F"/>
                </a:solidFill>
                <a:latin typeface="Cambria" pitchFamily="34" charset="0"/>
                <a:ea typeface="Cambria" pitchFamily="34" charset="-122"/>
                <a:cs typeface="Cambria" pitchFamily="34" charset="-120"/>
              </a:rPr>
              <a:t>No audit trail</a:t>
            </a:r>
            <a:endParaRPr lang="en-US" sz="1700" dirty="0"/>
          </a:p>
        </p:txBody>
      </p:sp>
      <p:sp>
        <p:nvSpPr>
          <p:cNvPr id="20" name="Text 18"/>
          <p:cNvSpPr/>
          <p:nvPr/>
        </p:nvSpPr>
        <p:spPr>
          <a:xfrm>
            <a:off x="8238744" y="3044952"/>
            <a:ext cx="2880360" cy="914400"/>
          </a:xfrm>
          <a:prstGeom prst="rect">
            <a:avLst/>
          </a:prstGeom>
          <a:noFill/>
          <a:ln/>
        </p:spPr>
        <p:txBody>
          <a:bodyPr wrap="square" lIns="0" tIns="0" rIns="0" bIns="0" rtlCol="0" anchor="ctr"/>
          <a:lstStyle/>
          <a:p>
            <a:pPr indent="0" marL="0">
              <a:lnSpc>
                <a:spcPts val="1900"/>
              </a:lnSpc>
              <a:buNone/>
            </a:pPr>
            <a:r>
              <a:rPr lang="en-US" sz="1350" dirty="0">
                <a:solidFill>
                  <a:srgbClr val="5D6B7A"/>
                </a:solidFill>
                <a:latin typeface="Calibri" pitchFamily="34" charset="0"/>
                <a:ea typeface="Calibri" pitchFamily="34" charset="-122"/>
                <a:cs typeface="Calibri" pitchFamily="34" charset="-120"/>
              </a:rPr>
              <a:t>You cannot see which text produced the claim, so you cannot check the claim at all.</a:t>
            </a:r>
            <a:endParaRPr lang="en-US" sz="1350" dirty="0"/>
          </a:p>
        </p:txBody>
      </p:sp>
      <p:sp>
        <p:nvSpPr>
          <p:cNvPr id="21" name="Shape 19"/>
          <p:cNvSpPr/>
          <p:nvPr/>
        </p:nvSpPr>
        <p:spPr>
          <a:xfrm>
            <a:off x="594360" y="4526280"/>
            <a:ext cx="10835640" cy="1280160"/>
          </a:xfrm>
          <a:prstGeom prst="roundRect">
            <a:avLst>
              <a:gd name="adj" fmla="val 5714"/>
            </a:avLst>
          </a:prstGeom>
          <a:solidFill>
            <a:srgbClr val="12263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22" name="Text 20"/>
          <p:cNvSpPr/>
          <p:nvPr/>
        </p:nvSpPr>
        <p:spPr>
          <a:xfrm>
            <a:off x="1005840" y="4800600"/>
            <a:ext cx="10058400" cy="868680"/>
          </a:xfrm>
          <a:prstGeom prst="rect">
            <a:avLst/>
          </a:prstGeom>
          <a:noFill/>
          <a:ln/>
        </p:spPr>
        <p:txBody>
          <a:bodyPr wrap="square" lIns="0" tIns="0" rIns="0" bIns="0" rtlCol="0" anchor="ctr"/>
          <a:lstStyle/>
          <a:p>
            <a:pPr indent="0" marL="0">
              <a:lnSpc>
                <a:spcPts val="2700"/>
              </a:lnSpc>
              <a:buNone/>
            </a:pPr>
            <a:r>
              <a:rPr lang="en-US" sz="1800" i="1" dirty="0">
                <a:solidFill>
                  <a:srgbClr val="FFFFFF"/>
                </a:solidFill>
                <a:latin typeface="Cambria" pitchFamily="34" charset="0"/>
                <a:ea typeface="Cambria" pitchFamily="34" charset="-122"/>
                <a:cs typeface="Cambria" pitchFamily="34" charset="-120"/>
              </a:rPr>
              <a:t>The failure mode is not that the answer is sometimes wrong.</a:t>
            </a:r>
            <a:endParaRPr lang="en-US" sz="1800" dirty="0"/>
          </a:p>
          <a:p>
            <a:pPr indent="0" marL="0">
              <a:lnSpc>
                <a:spcPts val="2700"/>
              </a:lnSpc>
              <a:buNone/>
            </a:pPr>
            <a:r>
              <a:rPr lang="en-US" sz="1800" i="1" dirty="0">
                <a:solidFill>
                  <a:srgbClr val="FFFFFF"/>
                </a:solidFill>
                <a:latin typeface="Cambria" pitchFamily="34" charset="0"/>
                <a:ea typeface="Cambria" pitchFamily="34" charset="-122"/>
                <a:cs typeface="Cambria" pitchFamily="34" charset="-120"/>
              </a:rPr>
              <a:t>It is that a wrong answer looks exactly like a right one.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RELEVANCE</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Why this matters for cooperative research</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94360" y="1783080"/>
            <a:ext cx="5074920" cy="4114800"/>
          </a:xfrm>
          <a:prstGeom prst="roundRect">
            <a:avLst>
              <a:gd name="adj" fmla="val 1778"/>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7" name="Text 5"/>
          <p:cNvSpPr/>
          <p:nvPr/>
        </p:nvSpPr>
        <p:spPr>
          <a:xfrm>
            <a:off x="960120" y="2103120"/>
            <a:ext cx="4389120" cy="1463040"/>
          </a:xfrm>
          <a:prstGeom prst="rect">
            <a:avLst/>
          </a:prstGeom>
          <a:noFill/>
          <a:ln/>
        </p:spPr>
        <p:txBody>
          <a:bodyPr wrap="square" lIns="0" tIns="0" rIns="0" bIns="0" rtlCol="0" anchor="ctr"/>
          <a:lstStyle/>
          <a:p>
            <a:pPr indent="0" marL="0">
              <a:lnSpc>
                <a:spcPts val="2300"/>
              </a:lnSpc>
              <a:buNone/>
            </a:pPr>
            <a:r>
              <a:rPr lang="en-US" sz="1500" dirty="0">
                <a:solidFill>
                  <a:srgbClr val="1A2733"/>
                </a:solidFill>
                <a:latin typeface="Calibri" pitchFamily="34" charset="0"/>
                <a:ea typeface="Calibri" pitchFamily="34" charset="-122"/>
                <a:cs typeface="Calibri" pitchFamily="34" charset="-120"/>
              </a:rPr>
              <a:t>Cooperatives are governed by disclosure. Member control, democratic participation and external audit all rest on the same thing: a claim that can be traced back to a document.</a:t>
            </a:r>
            <a:endParaRPr lang="en-US" sz="1500" dirty="0"/>
          </a:p>
        </p:txBody>
      </p:sp>
      <p:sp>
        <p:nvSpPr>
          <p:cNvPr id="8" name="Text 6"/>
          <p:cNvSpPr/>
          <p:nvPr/>
        </p:nvSpPr>
        <p:spPr>
          <a:xfrm>
            <a:off x="960120" y="4160520"/>
            <a:ext cx="4389120" cy="1371600"/>
          </a:xfrm>
          <a:prstGeom prst="rect">
            <a:avLst/>
          </a:prstGeom>
          <a:noFill/>
          <a:ln/>
        </p:spPr>
        <p:txBody>
          <a:bodyPr wrap="square" lIns="0" tIns="0" rIns="0" bIns="0" rtlCol="0" anchor="ctr"/>
          <a:lstStyle/>
          <a:p>
            <a:pPr indent="0" marL="0">
              <a:lnSpc>
                <a:spcPts val="2600"/>
              </a:lnSpc>
              <a:buNone/>
            </a:pPr>
            <a:r>
              <a:rPr lang="en-US" sz="1700" i="1" dirty="0">
                <a:solidFill>
                  <a:srgbClr val="2E5E7E"/>
                </a:solidFill>
                <a:latin typeface="Cambria" pitchFamily="34" charset="0"/>
                <a:ea typeface="Cambria" pitchFamily="34" charset="-122"/>
                <a:cs typeface="Cambria" pitchFamily="34" charset="-120"/>
              </a:rPr>
              <a:t>A research tool that cannot show its source reproduces exactly the problem that transparency law exists to solve.</a:t>
            </a:r>
            <a:endParaRPr lang="en-US" sz="1700" dirty="0"/>
          </a:p>
        </p:txBody>
      </p:sp>
      <p:sp>
        <p:nvSpPr>
          <p:cNvPr id="9" name="Shape 7"/>
          <p:cNvSpPr/>
          <p:nvPr/>
        </p:nvSpPr>
        <p:spPr>
          <a:xfrm>
            <a:off x="5989320" y="1783080"/>
            <a:ext cx="5605272" cy="1234440"/>
          </a:xfrm>
          <a:prstGeom prst="roundRect">
            <a:avLst>
              <a:gd name="adj" fmla="val 5926"/>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0" name="Shape 8"/>
          <p:cNvSpPr/>
          <p:nvPr/>
        </p:nvSpPr>
        <p:spPr>
          <a:xfrm>
            <a:off x="6263640" y="2185416"/>
            <a:ext cx="420624" cy="420624"/>
          </a:xfrm>
          <a:prstGeom prst="ellipse">
            <a:avLst/>
          </a:prstGeom>
          <a:solidFill>
            <a:srgbClr val="2E5E7E"/>
          </a:solidFill>
          <a:ln w="12700">
            <a:solidFill>
              <a:srgbClr val="2E5E7E"/>
            </a:solidFill>
            <a:prstDash val="solid"/>
          </a:ln>
        </p:spPr>
      </p:sp>
      <p:sp>
        <p:nvSpPr>
          <p:cNvPr id="11" name="Text 9"/>
          <p:cNvSpPr/>
          <p:nvPr/>
        </p:nvSpPr>
        <p:spPr>
          <a:xfrm>
            <a:off x="6263640" y="21854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
            </a:r>
            <a:endParaRPr lang="en-US" sz="1400" dirty="0"/>
          </a:p>
        </p:txBody>
      </p:sp>
      <p:sp>
        <p:nvSpPr>
          <p:cNvPr id="12" name="Text 10"/>
          <p:cNvSpPr/>
          <p:nvPr/>
        </p:nvSpPr>
        <p:spPr>
          <a:xfrm>
            <a:off x="6858000" y="2020824"/>
            <a:ext cx="4480560" cy="292608"/>
          </a:xfrm>
          <a:prstGeom prst="rect">
            <a:avLst/>
          </a:prstGeom>
          <a:noFill/>
          <a:ln/>
        </p:spPr>
        <p:txBody>
          <a:bodyPr wrap="square" lIns="0" tIns="0" rIns="0" bIns="0" rtlCol="0" anchor="ctr"/>
          <a:lstStyle/>
          <a:p>
            <a:pPr indent="0" marL="0">
              <a:buNone/>
            </a:pPr>
            <a:r>
              <a:rPr lang="en-US" sz="1550" b="1" dirty="0">
                <a:solidFill>
                  <a:srgbClr val="12263F"/>
                </a:solidFill>
                <a:latin typeface="Cambria" pitchFamily="34" charset="0"/>
                <a:ea typeface="Cambria" pitchFamily="34" charset="-122"/>
                <a:cs typeface="Cambria" pitchFamily="34" charset="-120"/>
              </a:rPr>
              <a:t>Members</a:t>
            </a:r>
            <a:endParaRPr lang="en-US" sz="1550" dirty="0"/>
          </a:p>
        </p:txBody>
      </p:sp>
      <p:sp>
        <p:nvSpPr>
          <p:cNvPr id="13" name="Text 11"/>
          <p:cNvSpPr/>
          <p:nvPr/>
        </p:nvSpPr>
        <p:spPr>
          <a:xfrm>
            <a:off x="6858000" y="2350008"/>
            <a:ext cx="4526280" cy="566928"/>
          </a:xfrm>
          <a:prstGeom prst="rect">
            <a:avLst/>
          </a:prstGeom>
          <a:noFill/>
          <a:ln/>
        </p:spPr>
        <p:txBody>
          <a:bodyPr wrap="square" lIns="0" tIns="0" rIns="0" bIns="0" rtlCol="0" anchor="ctr"/>
          <a:lstStyle/>
          <a:p>
            <a:pPr indent="0" marL="0">
              <a:lnSpc>
                <a:spcPts val="1700"/>
              </a:lnSpc>
              <a:buNone/>
            </a:pPr>
            <a:r>
              <a:rPr lang="en-US" sz="1250" dirty="0">
                <a:solidFill>
                  <a:srgbClr val="5D6B7A"/>
                </a:solidFill>
                <a:latin typeface="Calibri" pitchFamily="34" charset="0"/>
                <a:ea typeface="Calibri" pitchFamily="34" charset="-122"/>
                <a:cs typeface="Calibri" pitchFamily="34" charset="-120"/>
              </a:rPr>
              <a:t>Trust rests on disclosure that can be checked, not on assurance that it exists.</a:t>
            </a:r>
            <a:endParaRPr lang="en-US" sz="1250" dirty="0"/>
          </a:p>
        </p:txBody>
      </p:sp>
      <p:sp>
        <p:nvSpPr>
          <p:cNvPr id="14" name="Shape 12"/>
          <p:cNvSpPr/>
          <p:nvPr/>
        </p:nvSpPr>
        <p:spPr>
          <a:xfrm>
            <a:off x="5989320" y="3200400"/>
            <a:ext cx="5605272" cy="1234440"/>
          </a:xfrm>
          <a:prstGeom prst="roundRect">
            <a:avLst>
              <a:gd name="adj" fmla="val 5926"/>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5" name="Shape 13"/>
          <p:cNvSpPr/>
          <p:nvPr/>
        </p:nvSpPr>
        <p:spPr>
          <a:xfrm>
            <a:off x="6263640" y="3602736"/>
            <a:ext cx="420624" cy="420624"/>
          </a:xfrm>
          <a:prstGeom prst="ellipse">
            <a:avLst/>
          </a:prstGeom>
          <a:solidFill>
            <a:srgbClr val="2E5E7E"/>
          </a:solidFill>
          <a:ln w="12700">
            <a:solidFill>
              <a:srgbClr val="2E5E7E"/>
            </a:solidFill>
            <a:prstDash val="solid"/>
          </a:ln>
        </p:spPr>
      </p:sp>
      <p:sp>
        <p:nvSpPr>
          <p:cNvPr id="16" name="Text 14"/>
          <p:cNvSpPr/>
          <p:nvPr/>
        </p:nvSpPr>
        <p:spPr>
          <a:xfrm>
            <a:off x="6263640" y="36027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7" name="Text 15"/>
          <p:cNvSpPr/>
          <p:nvPr/>
        </p:nvSpPr>
        <p:spPr>
          <a:xfrm>
            <a:off x="6858000" y="3438144"/>
            <a:ext cx="4480560" cy="292608"/>
          </a:xfrm>
          <a:prstGeom prst="rect">
            <a:avLst/>
          </a:prstGeom>
          <a:noFill/>
          <a:ln/>
        </p:spPr>
        <p:txBody>
          <a:bodyPr wrap="square" lIns="0" tIns="0" rIns="0" bIns="0" rtlCol="0" anchor="ctr"/>
          <a:lstStyle/>
          <a:p>
            <a:pPr indent="0" marL="0">
              <a:buNone/>
            </a:pPr>
            <a:r>
              <a:rPr lang="en-US" sz="1550" b="1" dirty="0">
                <a:solidFill>
                  <a:srgbClr val="12263F"/>
                </a:solidFill>
                <a:latin typeface="Cambria" pitchFamily="34" charset="0"/>
                <a:ea typeface="Cambria" pitchFamily="34" charset="-122"/>
                <a:cs typeface="Cambria" pitchFamily="34" charset="-120"/>
              </a:rPr>
              <a:t>Auditors</a:t>
            </a:r>
            <a:endParaRPr lang="en-US" sz="1550" dirty="0"/>
          </a:p>
        </p:txBody>
      </p:sp>
      <p:sp>
        <p:nvSpPr>
          <p:cNvPr id="18" name="Text 16"/>
          <p:cNvSpPr/>
          <p:nvPr/>
        </p:nvSpPr>
        <p:spPr>
          <a:xfrm>
            <a:off x="6858000" y="3767328"/>
            <a:ext cx="4526280" cy="566928"/>
          </a:xfrm>
          <a:prstGeom prst="rect">
            <a:avLst/>
          </a:prstGeom>
          <a:noFill/>
          <a:ln/>
        </p:spPr>
        <p:txBody>
          <a:bodyPr wrap="square" lIns="0" tIns="0" rIns="0" bIns="0" rtlCol="0" anchor="ctr"/>
          <a:lstStyle/>
          <a:p>
            <a:pPr indent="0" marL="0">
              <a:lnSpc>
                <a:spcPts val="1700"/>
              </a:lnSpc>
              <a:buNone/>
            </a:pPr>
            <a:r>
              <a:rPr lang="en-US" sz="1250" dirty="0">
                <a:solidFill>
                  <a:srgbClr val="5D6B7A"/>
                </a:solidFill>
                <a:latin typeface="Calibri" pitchFamily="34" charset="0"/>
                <a:ea typeface="Calibri" pitchFamily="34" charset="-122"/>
                <a:cs typeface="Calibri" pitchFamily="34" charset="-120"/>
              </a:rPr>
              <a:t>A finding is only a finding if it points at a specific passage of a specific document.</a:t>
            </a:r>
            <a:endParaRPr lang="en-US" sz="1250" dirty="0"/>
          </a:p>
        </p:txBody>
      </p:sp>
      <p:sp>
        <p:nvSpPr>
          <p:cNvPr id="19" name="Shape 17"/>
          <p:cNvSpPr/>
          <p:nvPr/>
        </p:nvSpPr>
        <p:spPr>
          <a:xfrm>
            <a:off x="5989320" y="4617720"/>
            <a:ext cx="5605272" cy="1234440"/>
          </a:xfrm>
          <a:prstGeom prst="roundRect">
            <a:avLst>
              <a:gd name="adj" fmla="val 5926"/>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20" name="Shape 18"/>
          <p:cNvSpPr/>
          <p:nvPr/>
        </p:nvSpPr>
        <p:spPr>
          <a:xfrm>
            <a:off x="6263640" y="5020056"/>
            <a:ext cx="420624" cy="420624"/>
          </a:xfrm>
          <a:prstGeom prst="ellipse">
            <a:avLst/>
          </a:prstGeom>
          <a:solidFill>
            <a:srgbClr val="2E5E7E"/>
          </a:solidFill>
          <a:ln w="12700">
            <a:solidFill>
              <a:srgbClr val="2E5E7E"/>
            </a:solidFill>
            <a:prstDash val="solid"/>
          </a:ln>
        </p:spPr>
      </p:sp>
      <p:sp>
        <p:nvSpPr>
          <p:cNvPr id="21" name="Text 19"/>
          <p:cNvSpPr/>
          <p:nvPr/>
        </p:nvSpPr>
        <p:spPr>
          <a:xfrm>
            <a:off x="6263640" y="50200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t>
            </a:r>
            <a:endParaRPr lang="en-US" sz="1400" dirty="0"/>
          </a:p>
        </p:txBody>
      </p:sp>
      <p:sp>
        <p:nvSpPr>
          <p:cNvPr id="22" name="Text 20"/>
          <p:cNvSpPr/>
          <p:nvPr/>
        </p:nvSpPr>
        <p:spPr>
          <a:xfrm>
            <a:off x="6858000" y="4855464"/>
            <a:ext cx="4480560" cy="292608"/>
          </a:xfrm>
          <a:prstGeom prst="rect">
            <a:avLst/>
          </a:prstGeom>
          <a:noFill/>
          <a:ln/>
        </p:spPr>
        <p:txBody>
          <a:bodyPr wrap="square" lIns="0" tIns="0" rIns="0" bIns="0" rtlCol="0" anchor="ctr"/>
          <a:lstStyle/>
          <a:p>
            <a:pPr indent="0" marL="0">
              <a:buNone/>
            </a:pPr>
            <a:r>
              <a:rPr lang="en-US" sz="1550" b="1" dirty="0">
                <a:solidFill>
                  <a:srgbClr val="12263F"/>
                </a:solidFill>
                <a:latin typeface="Cambria" pitchFamily="34" charset="0"/>
                <a:ea typeface="Cambria" pitchFamily="34" charset="-122"/>
                <a:cs typeface="Cambria" pitchFamily="34" charset="-120"/>
              </a:rPr>
              <a:t>Researchers</a:t>
            </a:r>
            <a:endParaRPr lang="en-US" sz="1550" dirty="0"/>
          </a:p>
        </p:txBody>
      </p:sp>
      <p:sp>
        <p:nvSpPr>
          <p:cNvPr id="23" name="Text 21"/>
          <p:cNvSpPr/>
          <p:nvPr/>
        </p:nvSpPr>
        <p:spPr>
          <a:xfrm>
            <a:off x="6858000" y="5184648"/>
            <a:ext cx="4526280" cy="566928"/>
          </a:xfrm>
          <a:prstGeom prst="rect">
            <a:avLst/>
          </a:prstGeom>
          <a:noFill/>
          <a:ln/>
        </p:spPr>
        <p:txBody>
          <a:bodyPr wrap="square" lIns="0" tIns="0" rIns="0" bIns="0" rtlCol="0" anchor="ctr"/>
          <a:lstStyle/>
          <a:p>
            <a:pPr indent="0" marL="0">
              <a:lnSpc>
                <a:spcPts val="1700"/>
              </a:lnSpc>
              <a:buNone/>
            </a:pPr>
            <a:r>
              <a:rPr lang="en-US" sz="1250" dirty="0">
                <a:solidFill>
                  <a:srgbClr val="5D6B7A"/>
                </a:solidFill>
                <a:latin typeface="Calibri" pitchFamily="34" charset="0"/>
                <a:ea typeface="Calibri" pitchFamily="34" charset="-122"/>
                <a:cs typeface="Calibri" pitchFamily="34" charset="-120"/>
              </a:rPr>
              <a:t>A literature review is judged on its citations before it is judged on its argument.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63F"/>
        </a:solidFill>
      </p:bgPr>
    </p:bg>
    <p:spTree>
      <p:nvGrpSpPr>
        <p:cNvPr id="1" name=""/>
        <p:cNvGrpSpPr/>
        <p:nvPr/>
      </p:nvGrpSpPr>
      <p:grpSpPr>
        <a:xfrm>
          <a:off x="0" y="0"/>
          <a:ext cx="0" cy="0"/>
          <a:chOff x="0" y="0"/>
          <a:chExt cx="0" cy="0"/>
        </a:xfrm>
      </p:grpSpPr>
      <p:sp>
        <p:nvSpPr>
          <p:cNvPr id="2" name="Shape 0"/>
          <p:cNvSpPr/>
          <p:nvPr/>
        </p:nvSpPr>
        <p:spPr>
          <a:xfrm>
            <a:off x="-1371600" y="4023360"/>
            <a:ext cx="5120640" cy="5120640"/>
          </a:xfrm>
          <a:prstGeom prst="ellipse">
            <a:avLst/>
          </a:prstGeom>
          <a:solidFill>
            <a:srgbClr val="2E5E7E">
              <a:alpha val="22000"/>
            </a:srgbClr>
          </a:solidFill>
          <a:ln w="12700">
            <a:solidFill>
              <a:srgbClr val="333333"/>
            </a:solidFill>
            <a:prstDash val="solid"/>
          </a:ln>
        </p:spPr>
      </p:sp>
      <p:sp>
        <p:nvSpPr>
          <p:cNvPr id="3" name="Text 1"/>
          <p:cNvSpPr/>
          <p:nvPr/>
        </p:nvSpPr>
        <p:spPr>
          <a:xfrm>
            <a:off x="1280160" y="1371600"/>
            <a:ext cx="9601200" cy="320040"/>
          </a:xfrm>
          <a:prstGeom prst="rect">
            <a:avLst/>
          </a:prstGeom>
          <a:noFill/>
          <a:ln/>
        </p:spPr>
        <p:txBody>
          <a:bodyPr wrap="square" lIns="0" tIns="0" rIns="0" bIns="0" rtlCol="0" anchor="ctr"/>
          <a:lstStyle/>
          <a:p>
            <a:pPr indent="0" marL="0">
              <a:buNone/>
            </a:pPr>
            <a:r>
              <a:rPr lang="en-US" sz="1300" b="1" spc="140" kern="0" dirty="0">
                <a:solidFill>
                  <a:srgbClr val="D08C1E"/>
                </a:solidFill>
                <a:latin typeface="Calibri" pitchFamily="34" charset="0"/>
                <a:ea typeface="Calibri" pitchFamily="34" charset="-122"/>
                <a:cs typeface="Calibri" pitchFamily="34" charset="-120"/>
              </a:rPr>
              <a:t>The central commitment</a:t>
            </a:r>
            <a:endParaRPr lang="en-US" sz="1300" dirty="0"/>
          </a:p>
        </p:txBody>
      </p:sp>
      <p:sp>
        <p:nvSpPr>
          <p:cNvPr id="4" name="Text 2"/>
          <p:cNvSpPr/>
          <p:nvPr/>
        </p:nvSpPr>
        <p:spPr>
          <a:xfrm>
            <a:off x="1280160" y="1965960"/>
            <a:ext cx="9692640" cy="1828800"/>
          </a:xfrm>
          <a:prstGeom prst="rect">
            <a:avLst/>
          </a:prstGeom>
          <a:noFill/>
          <a:ln/>
        </p:spPr>
        <p:txBody>
          <a:bodyPr wrap="square" lIns="0" tIns="0" rIns="0" bIns="0" rtlCol="0" anchor="ctr"/>
          <a:lstStyle/>
          <a:p>
            <a:pPr indent="0" marL="0">
              <a:lnSpc>
                <a:spcPts val="4400"/>
              </a:lnSpc>
              <a:buNone/>
            </a:pPr>
            <a:r>
              <a:rPr lang="en-US" sz="2900" b="1" dirty="0">
                <a:solidFill>
                  <a:srgbClr val="FFFFFF"/>
                </a:solidFill>
                <a:latin typeface="Cambria" pitchFamily="34" charset="0"/>
                <a:ea typeface="Cambria" pitchFamily="34" charset="-122"/>
                <a:cs typeface="Cambria" pitchFamily="34" charset="-120"/>
              </a:rPr>
              <a:t>“When the collection does not contain sufficient evidence,</a:t>
            </a:r>
            <a:endParaRPr lang="en-US" sz="2900" dirty="0"/>
          </a:p>
          <a:p>
            <a:pPr indent="0" marL="0">
              <a:lnSpc>
                <a:spcPts val="4400"/>
              </a:lnSpc>
              <a:buNone/>
            </a:pPr>
            <a:r>
              <a:rPr lang="en-US" sz="2900" b="1" dirty="0">
                <a:solidFill>
                  <a:srgbClr val="FFFFFF"/>
                </a:solidFill>
                <a:latin typeface="Cambria" pitchFamily="34" charset="0"/>
                <a:ea typeface="Cambria" pitchFamily="34" charset="-122"/>
                <a:cs typeface="Cambria" pitchFamily="34" charset="-120"/>
              </a:rPr>
              <a:t>the system says so — instead of filling the gap.”</a:t>
            </a:r>
            <a:endParaRPr lang="en-US" sz="2900" dirty="0"/>
          </a:p>
        </p:txBody>
      </p:sp>
      <p:sp>
        <p:nvSpPr>
          <p:cNvPr id="5" name="Text 3"/>
          <p:cNvSpPr/>
          <p:nvPr/>
        </p:nvSpPr>
        <p:spPr>
          <a:xfrm>
            <a:off x="1280160" y="4114800"/>
            <a:ext cx="9509760" cy="1097280"/>
          </a:xfrm>
          <a:prstGeom prst="rect">
            <a:avLst/>
          </a:prstGeom>
          <a:noFill/>
          <a:ln/>
        </p:spPr>
        <p:txBody>
          <a:bodyPr wrap="square" lIns="0" tIns="0" rIns="0" bIns="0" rtlCol="0" anchor="ctr"/>
          <a:lstStyle/>
          <a:p>
            <a:pPr indent="0" marL="0">
              <a:lnSpc>
                <a:spcPts val="2600"/>
              </a:lnSpc>
              <a:buNone/>
            </a:pPr>
            <a:r>
              <a:rPr lang="en-US" sz="1600" dirty="0">
                <a:solidFill>
                  <a:srgbClr val="C6D6E4"/>
                </a:solidFill>
                <a:latin typeface="Calibri" pitchFamily="34" charset="0"/>
                <a:ea typeface="Calibri" pitchFamily="34" charset="-122"/>
                <a:cs typeface="Calibri" pitchFamily="34" charset="-120"/>
              </a:rPr>
              <a:t>A refusal is a statement about the collection, not about the world.</a:t>
            </a:r>
            <a:endParaRPr lang="en-US" sz="1600" dirty="0"/>
          </a:p>
          <a:p>
            <a:pPr indent="0" marL="0">
              <a:lnSpc>
                <a:spcPts val="2600"/>
              </a:lnSpc>
              <a:buNone/>
            </a:pPr>
            <a:r>
              <a:rPr lang="en-US" sz="1600" dirty="0">
                <a:solidFill>
                  <a:srgbClr val="C6D6E4"/>
                </a:solidFill>
                <a:latin typeface="Calibri" pitchFamily="34" charset="0"/>
                <a:ea typeface="Calibri" pitchFamily="34" charset="-122"/>
                <a:cs typeface="Calibri" pitchFamily="34" charset="-120"/>
              </a:rPr>
              <a:t>It is a correct outcome, not a system failure — and the interface is designed to show it that way.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THE SYSTEM</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What it is</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640080" y="1993392"/>
            <a:ext cx="118872" cy="118872"/>
          </a:xfrm>
          <a:prstGeom prst="ellipse">
            <a:avLst/>
          </a:prstGeom>
          <a:solidFill>
            <a:srgbClr val="D08C1E"/>
          </a:solidFill>
          <a:ln w="12700">
            <a:solidFill>
              <a:srgbClr val="333333"/>
            </a:solidFill>
            <a:prstDash val="solid"/>
          </a:ln>
        </p:spPr>
      </p:sp>
      <p:sp>
        <p:nvSpPr>
          <p:cNvPr id="7" name="Text 5"/>
          <p:cNvSpPr/>
          <p:nvPr/>
        </p:nvSpPr>
        <p:spPr>
          <a:xfrm>
            <a:off x="941832" y="1920240"/>
            <a:ext cx="5029200" cy="640080"/>
          </a:xfrm>
          <a:prstGeom prst="rect">
            <a:avLst/>
          </a:prstGeom>
          <a:noFill/>
          <a:ln/>
        </p:spPr>
        <p:txBody>
          <a:bodyPr wrap="square" lIns="0" tIns="0" rIns="0" bIns="0" rtlCol="0" anchor="ctr"/>
          <a:lstStyle/>
          <a:p>
            <a:pPr indent="0" marL="0">
              <a:lnSpc>
                <a:spcPts val="2000"/>
              </a:lnSpc>
              <a:buNone/>
            </a:pPr>
            <a:r>
              <a:rPr lang="en-US" sz="1450" dirty="0">
                <a:solidFill>
                  <a:srgbClr val="1A2733"/>
                </a:solidFill>
                <a:latin typeface="Calibri" pitchFamily="34" charset="0"/>
                <a:ea typeface="Calibri" pitchFamily="34" charset="-122"/>
                <a:cs typeface="Calibri" pitchFamily="34" charset="-120"/>
              </a:rPr>
              <a:t>A research assistant over an authorised collection — not a general chatbot.</a:t>
            </a:r>
            <a:endParaRPr lang="en-US" sz="1450" dirty="0"/>
          </a:p>
        </p:txBody>
      </p:sp>
      <p:sp>
        <p:nvSpPr>
          <p:cNvPr id="8" name="Shape 6"/>
          <p:cNvSpPr/>
          <p:nvPr/>
        </p:nvSpPr>
        <p:spPr>
          <a:xfrm>
            <a:off x="640080" y="2798064"/>
            <a:ext cx="118872" cy="118872"/>
          </a:xfrm>
          <a:prstGeom prst="ellipse">
            <a:avLst/>
          </a:prstGeom>
          <a:solidFill>
            <a:srgbClr val="D08C1E"/>
          </a:solidFill>
          <a:ln w="12700">
            <a:solidFill>
              <a:srgbClr val="333333"/>
            </a:solidFill>
            <a:prstDash val="solid"/>
          </a:ln>
        </p:spPr>
      </p:sp>
      <p:sp>
        <p:nvSpPr>
          <p:cNvPr id="9" name="Text 7"/>
          <p:cNvSpPr/>
          <p:nvPr/>
        </p:nvSpPr>
        <p:spPr>
          <a:xfrm>
            <a:off x="941832" y="2724912"/>
            <a:ext cx="5029200" cy="640080"/>
          </a:xfrm>
          <a:prstGeom prst="rect">
            <a:avLst/>
          </a:prstGeom>
          <a:noFill/>
          <a:ln/>
        </p:spPr>
        <p:txBody>
          <a:bodyPr wrap="square" lIns="0" tIns="0" rIns="0" bIns="0" rtlCol="0" anchor="ctr"/>
          <a:lstStyle/>
          <a:p>
            <a:pPr indent="0" marL="0">
              <a:lnSpc>
                <a:spcPts val="2000"/>
              </a:lnSpc>
              <a:buNone/>
            </a:pPr>
            <a:r>
              <a:rPr lang="en-US" sz="1450" dirty="0">
                <a:solidFill>
                  <a:srgbClr val="1A2733"/>
                </a:solidFill>
                <a:latin typeface="Calibri" pitchFamily="34" charset="0"/>
                <a:ea typeface="Calibri" pitchFamily="34" charset="-122"/>
                <a:cs typeface="Calibri" pitchFamily="34" charset="-120"/>
              </a:rPr>
              <a:t>Corpus today: one doctoral thesis on transparency law, 320 pages.</a:t>
            </a:r>
            <a:endParaRPr lang="en-US" sz="1450" dirty="0"/>
          </a:p>
        </p:txBody>
      </p:sp>
      <p:sp>
        <p:nvSpPr>
          <p:cNvPr id="10" name="Shape 8"/>
          <p:cNvSpPr/>
          <p:nvPr/>
        </p:nvSpPr>
        <p:spPr>
          <a:xfrm>
            <a:off x="640080" y="3602736"/>
            <a:ext cx="118872" cy="118872"/>
          </a:xfrm>
          <a:prstGeom prst="ellipse">
            <a:avLst/>
          </a:prstGeom>
          <a:solidFill>
            <a:srgbClr val="D08C1E"/>
          </a:solidFill>
          <a:ln w="12700">
            <a:solidFill>
              <a:srgbClr val="333333"/>
            </a:solidFill>
            <a:prstDash val="solid"/>
          </a:ln>
        </p:spPr>
      </p:sp>
      <p:sp>
        <p:nvSpPr>
          <p:cNvPr id="11" name="Text 9"/>
          <p:cNvSpPr/>
          <p:nvPr/>
        </p:nvSpPr>
        <p:spPr>
          <a:xfrm>
            <a:off x="941832" y="3529584"/>
            <a:ext cx="5029200" cy="640080"/>
          </a:xfrm>
          <a:prstGeom prst="rect">
            <a:avLst/>
          </a:prstGeom>
          <a:noFill/>
          <a:ln/>
        </p:spPr>
        <p:txBody>
          <a:bodyPr wrap="square" lIns="0" tIns="0" rIns="0" bIns="0" rtlCol="0" anchor="ctr"/>
          <a:lstStyle/>
          <a:p>
            <a:pPr indent="0" marL="0">
              <a:lnSpc>
                <a:spcPts val="2000"/>
              </a:lnSpc>
              <a:buNone/>
            </a:pPr>
            <a:r>
              <a:rPr lang="en-US" sz="1450" dirty="0">
                <a:solidFill>
                  <a:srgbClr val="1A2733"/>
                </a:solidFill>
                <a:latin typeface="Calibri" pitchFamily="34" charset="0"/>
                <a:ea typeface="Calibri" pitchFamily="34" charset="-122"/>
                <a:cs typeface="Calibri" pitchFamily="34" charset="-120"/>
              </a:rPr>
              <a:t>Indexed as 249 passages, each carrying its chapter, section and printed page.</a:t>
            </a:r>
            <a:endParaRPr lang="en-US" sz="1450" dirty="0"/>
          </a:p>
        </p:txBody>
      </p:sp>
      <p:sp>
        <p:nvSpPr>
          <p:cNvPr id="12" name="Shape 10"/>
          <p:cNvSpPr/>
          <p:nvPr/>
        </p:nvSpPr>
        <p:spPr>
          <a:xfrm>
            <a:off x="640080" y="4407408"/>
            <a:ext cx="118872" cy="118872"/>
          </a:xfrm>
          <a:prstGeom prst="ellipse">
            <a:avLst/>
          </a:prstGeom>
          <a:solidFill>
            <a:srgbClr val="D08C1E"/>
          </a:solidFill>
          <a:ln w="12700">
            <a:solidFill>
              <a:srgbClr val="333333"/>
            </a:solidFill>
            <a:prstDash val="solid"/>
          </a:ln>
        </p:spPr>
      </p:sp>
      <p:sp>
        <p:nvSpPr>
          <p:cNvPr id="13" name="Text 11"/>
          <p:cNvSpPr/>
          <p:nvPr/>
        </p:nvSpPr>
        <p:spPr>
          <a:xfrm>
            <a:off x="941832" y="4334256"/>
            <a:ext cx="5029200" cy="640080"/>
          </a:xfrm>
          <a:prstGeom prst="rect">
            <a:avLst/>
          </a:prstGeom>
          <a:noFill/>
          <a:ln/>
        </p:spPr>
        <p:txBody>
          <a:bodyPr wrap="square" lIns="0" tIns="0" rIns="0" bIns="0" rtlCol="0" anchor="ctr"/>
          <a:lstStyle/>
          <a:p>
            <a:pPr indent="0" marL="0">
              <a:lnSpc>
                <a:spcPts val="2000"/>
              </a:lnSpc>
              <a:buNone/>
            </a:pPr>
            <a:r>
              <a:rPr lang="en-US" sz="1450" dirty="0">
                <a:solidFill>
                  <a:srgbClr val="1A2733"/>
                </a:solidFill>
                <a:latin typeface="Calibri" pitchFamily="34" charset="0"/>
                <a:ea typeface="Calibri" pitchFamily="34" charset="-122"/>
                <a:cs typeface="Calibri" pitchFamily="34" charset="-120"/>
              </a:rPr>
              <a:t>Answers are composed only from passages retrieved for that question.</a:t>
            </a:r>
            <a:endParaRPr lang="en-US" sz="1450" dirty="0"/>
          </a:p>
        </p:txBody>
      </p:sp>
      <p:sp>
        <p:nvSpPr>
          <p:cNvPr id="14" name="Shape 12"/>
          <p:cNvSpPr/>
          <p:nvPr/>
        </p:nvSpPr>
        <p:spPr>
          <a:xfrm>
            <a:off x="640080" y="5212080"/>
            <a:ext cx="118872" cy="118872"/>
          </a:xfrm>
          <a:prstGeom prst="ellipse">
            <a:avLst/>
          </a:prstGeom>
          <a:solidFill>
            <a:srgbClr val="D08C1E"/>
          </a:solidFill>
          <a:ln w="12700">
            <a:solidFill>
              <a:srgbClr val="333333"/>
            </a:solidFill>
            <a:prstDash val="solid"/>
          </a:ln>
        </p:spPr>
      </p:sp>
      <p:sp>
        <p:nvSpPr>
          <p:cNvPr id="15" name="Text 13"/>
          <p:cNvSpPr/>
          <p:nvPr/>
        </p:nvSpPr>
        <p:spPr>
          <a:xfrm>
            <a:off x="941832" y="5138928"/>
            <a:ext cx="5029200" cy="640080"/>
          </a:xfrm>
          <a:prstGeom prst="rect">
            <a:avLst/>
          </a:prstGeom>
          <a:noFill/>
          <a:ln/>
        </p:spPr>
        <p:txBody>
          <a:bodyPr wrap="square" lIns="0" tIns="0" rIns="0" bIns="0" rtlCol="0" anchor="ctr"/>
          <a:lstStyle/>
          <a:p>
            <a:pPr indent="0" marL="0">
              <a:lnSpc>
                <a:spcPts val="2000"/>
              </a:lnSpc>
              <a:buNone/>
            </a:pPr>
            <a:r>
              <a:rPr lang="en-US" sz="1450" dirty="0">
                <a:solidFill>
                  <a:srgbClr val="1A2733"/>
                </a:solidFill>
                <a:latin typeface="Calibri" pitchFamily="34" charset="0"/>
                <a:ea typeface="Calibri" pitchFamily="34" charset="-122"/>
                <a:cs typeface="Calibri" pitchFamily="34" charset="-120"/>
              </a:rPr>
              <a:t>Every answer carries citations that resolve to a page in the source.</a:t>
            </a:r>
            <a:endParaRPr lang="en-US" sz="1450" dirty="0"/>
          </a:p>
        </p:txBody>
      </p:sp>
      <p:sp>
        <p:nvSpPr>
          <p:cNvPr id="16" name="Shape 14"/>
          <p:cNvSpPr/>
          <p:nvPr/>
        </p:nvSpPr>
        <p:spPr>
          <a:xfrm>
            <a:off x="6291072" y="2130552"/>
            <a:ext cx="5294376" cy="2432304"/>
          </a:xfrm>
          <a:prstGeom prst="roundRect">
            <a:avLst>
              <a:gd name="adj" fmla="val 2256"/>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pic>
        <p:nvPicPr>
          <p:cNvPr id="17" name="Image 0" descr="/tmp/claude-0/-home-user-source-grounded-rag/68b384e6-984f-5261-98d9-fb926fa4c5e2/scratchpad/shots/landing.png">    </p:cNvPr>
          <p:cNvPicPr>
            <a:picLocks noChangeAspect="1"/>
          </p:cNvPicPr>
          <p:nvPr/>
        </p:nvPicPr>
        <p:blipFill>
          <a:blip r:embed="rId1"/>
          <a:srcRect l="0" r="0" t="0" b="0"/>
          <a:stretch/>
        </p:blipFill>
        <p:spPr>
          <a:xfrm>
            <a:off x="6400800" y="2240280"/>
            <a:ext cx="5074920" cy="2212848"/>
          </a:xfrm>
          <a:prstGeom prst="rect">
            <a:avLst/>
          </a:prstGeom>
        </p:spPr>
      </p:pic>
      <p:sp>
        <p:nvSpPr>
          <p:cNvPr id="18" name="Text 15"/>
          <p:cNvSpPr/>
          <p:nvPr/>
        </p:nvSpPr>
        <p:spPr>
          <a:xfrm>
            <a:off x="6400800" y="4800600"/>
            <a:ext cx="5074920" cy="822960"/>
          </a:xfrm>
          <a:prstGeom prst="rect">
            <a:avLst/>
          </a:prstGeom>
          <a:noFill/>
          <a:ln/>
        </p:spPr>
        <p:txBody>
          <a:bodyPr wrap="square" lIns="0" tIns="0" rIns="0" bIns="0" rtlCol="0" anchor="ctr"/>
          <a:lstStyle/>
          <a:p>
            <a:pPr indent="0" marL="0">
              <a:lnSpc>
                <a:spcPts val="1800"/>
              </a:lnSpc>
              <a:buNone/>
            </a:pPr>
            <a:r>
              <a:rPr lang="en-US" sz="1250" i="1" dirty="0">
                <a:solidFill>
                  <a:srgbClr val="5D6B7A"/>
                </a:solidFill>
                <a:latin typeface="Calibri" pitchFamily="34" charset="0"/>
                <a:ea typeface="Calibri" pitchFamily="34" charset="-122"/>
                <a:cs typeface="Calibri" pitchFamily="34" charset="-120"/>
              </a:rPr>
              <a:t>The collection and its size are printed above the chat box at all times — the reader always knows what is being searched.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One question, five stages</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94360" y="1874520"/>
            <a:ext cx="2048256" cy="2377440"/>
          </a:xfrm>
          <a:prstGeom prst="roundRect">
            <a:avLst>
              <a:gd name="adj" fmla="val 3571"/>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7" name="Shape 5"/>
          <p:cNvSpPr/>
          <p:nvPr/>
        </p:nvSpPr>
        <p:spPr>
          <a:xfrm>
            <a:off x="813816" y="2084832"/>
            <a:ext cx="420624" cy="420624"/>
          </a:xfrm>
          <a:prstGeom prst="ellipse">
            <a:avLst/>
          </a:prstGeom>
          <a:solidFill>
            <a:srgbClr val="12263F"/>
          </a:solidFill>
          <a:ln w="12700">
            <a:solidFill>
              <a:srgbClr val="12263F"/>
            </a:solidFill>
            <a:prstDash val="solid"/>
          </a:ln>
        </p:spPr>
      </p:sp>
      <p:sp>
        <p:nvSpPr>
          <p:cNvPr id="8" name="Text 6"/>
          <p:cNvSpPr/>
          <p:nvPr/>
        </p:nvSpPr>
        <p:spPr>
          <a:xfrm>
            <a:off x="813816" y="20848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813816" y="2633472"/>
            <a:ext cx="1737360" cy="310896"/>
          </a:xfrm>
          <a:prstGeom prst="rect">
            <a:avLst/>
          </a:prstGeom>
          <a:noFill/>
          <a:ln/>
        </p:spPr>
        <p:txBody>
          <a:bodyPr wrap="square" lIns="0" tIns="0" rIns="0" bIns="0" rtlCol="0" anchor="ctr"/>
          <a:lstStyle/>
          <a:p>
            <a:pPr indent="0" marL="0">
              <a:buNone/>
            </a:pPr>
            <a:r>
              <a:rPr lang="en-US" sz="1600" b="1" dirty="0">
                <a:solidFill>
                  <a:srgbClr val="12263F"/>
                </a:solidFill>
                <a:latin typeface="Cambria" pitchFamily="34" charset="0"/>
                <a:ea typeface="Cambria" pitchFamily="34" charset="-122"/>
                <a:cs typeface="Cambria" pitchFamily="34" charset="-120"/>
              </a:rPr>
              <a:t>Ingest</a:t>
            </a:r>
            <a:endParaRPr lang="en-US" sz="1600" dirty="0"/>
          </a:p>
        </p:txBody>
      </p:sp>
      <p:sp>
        <p:nvSpPr>
          <p:cNvPr id="10" name="Text 8"/>
          <p:cNvSpPr/>
          <p:nvPr/>
        </p:nvSpPr>
        <p:spPr>
          <a:xfrm>
            <a:off x="813816" y="2980944"/>
            <a:ext cx="1664208" cy="1143000"/>
          </a:xfrm>
          <a:prstGeom prst="rect">
            <a:avLst/>
          </a:prstGeom>
          <a:noFill/>
          <a:ln/>
        </p:spPr>
        <p:txBody>
          <a:bodyPr wrap="square" lIns="0" tIns="0" rIns="0" bIns="0" rtlCol="0" anchor="ctr"/>
          <a:lstStyle/>
          <a:p>
            <a:pPr indent="0" marL="0">
              <a:lnSpc>
                <a:spcPts val="1700"/>
              </a:lnSpc>
              <a:buNone/>
            </a:pPr>
            <a:r>
              <a:rPr lang="en-US" sz="1200" dirty="0">
                <a:solidFill>
                  <a:srgbClr val="5D6B7A"/>
                </a:solidFill>
                <a:latin typeface="Calibri" pitchFamily="34" charset="0"/>
                <a:ea typeface="Calibri" pitchFamily="34" charset="-122"/>
                <a:cs typeface="Calibri" pitchFamily="34" charset="-120"/>
              </a:rPr>
              <a:t>PDF extracted page by page. Chapter, section and printed page recorded for every passage.</a:t>
            </a:r>
            <a:endParaRPr lang="en-US" sz="1200" dirty="0"/>
          </a:p>
        </p:txBody>
      </p:sp>
      <p:sp>
        <p:nvSpPr>
          <p:cNvPr id="11" name="Shape 9"/>
          <p:cNvSpPr/>
          <p:nvPr/>
        </p:nvSpPr>
        <p:spPr>
          <a:xfrm>
            <a:off x="2825496" y="1874520"/>
            <a:ext cx="2048256" cy="2377440"/>
          </a:xfrm>
          <a:prstGeom prst="roundRect">
            <a:avLst>
              <a:gd name="adj" fmla="val 3571"/>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2" name="Shape 10"/>
          <p:cNvSpPr/>
          <p:nvPr/>
        </p:nvSpPr>
        <p:spPr>
          <a:xfrm>
            <a:off x="3044952" y="2084832"/>
            <a:ext cx="420624" cy="420624"/>
          </a:xfrm>
          <a:prstGeom prst="ellipse">
            <a:avLst/>
          </a:prstGeom>
          <a:solidFill>
            <a:srgbClr val="12263F"/>
          </a:solidFill>
          <a:ln w="12700">
            <a:solidFill>
              <a:srgbClr val="12263F"/>
            </a:solidFill>
            <a:prstDash val="solid"/>
          </a:ln>
        </p:spPr>
      </p:sp>
      <p:sp>
        <p:nvSpPr>
          <p:cNvPr id="13" name="Text 11"/>
          <p:cNvSpPr/>
          <p:nvPr/>
        </p:nvSpPr>
        <p:spPr>
          <a:xfrm>
            <a:off x="3044952" y="20848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3044952" y="2633472"/>
            <a:ext cx="1737360" cy="310896"/>
          </a:xfrm>
          <a:prstGeom prst="rect">
            <a:avLst/>
          </a:prstGeom>
          <a:noFill/>
          <a:ln/>
        </p:spPr>
        <p:txBody>
          <a:bodyPr wrap="square" lIns="0" tIns="0" rIns="0" bIns="0" rtlCol="0" anchor="ctr"/>
          <a:lstStyle/>
          <a:p>
            <a:pPr indent="0" marL="0">
              <a:buNone/>
            </a:pPr>
            <a:r>
              <a:rPr lang="en-US" sz="1600" b="1" dirty="0">
                <a:solidFill>
                  <a:srgbClr val="12263F"/>
                </a:solidFill>
                <a:latin typeface="Cambria" pitchFamily="34" charset="0"/>
                <a:ea typeface="Cambria" pitchFamily="34" charset="-122"/>
                <a:cs typeface="Cambria" pitchFamily="34" charset="-120"/>
              </a:rPr>
              <a:t>Retrieve</a:t>
            </a:r>
            <a:endParaRPr lang="en-US" sz="1600" dirty="0"/>
          </a:p>
        </p:txBody>
      </p:sp>
      <p:sp>
        <p:nvSpPr>
          <p:cNvPr id="15" name="Text 13"/>
          <p:cNvSpPr/>
          <p:nvPr/>
        </p:nvSpPr>
        <p:spPr>
          <a:xfrm>
            <a:off x="3044952" y="2980944"/>
            <a:ext cx="1664208" cy="1143000"/>
          </a:xfrm>
          <a:prstGeom prst="rect">
            <a:avLst/>
          </a:prstGeom>
          <a:noFill/>
          <a:ln/>
        </p:spPr>
        <p:txBody>
          <a:bodyPr wrap="square" lIns="0" tIns="0" rIns="0" bIns="0" rtlCol="0" anchor="ctr"/>
          <a:lstStyle/>
          <a:p>
            <a:pPr indent="0" marL="0">
              <a:lnSpc>
                <a:spcPts val="1700"/>
              </a:lnSpc>
              <a:buNone/>
            </a:pPr>
            <a:r>
              <a:rPr lang="en-US" sz="1200" dirty="0">
                <a:solidFill>
                  <a:srgbClr val="5D6B7A"/>
                </a:solidFill>
                <a:latin typeface="Calibri" pitchFamily="34" charset="0"/>
                <a:ea typeface="Calibri" pitchFamily="34" charset="-122"/>
                <a:cs typeface="Calibri" pitchFamily="34" charset="-120"/>
              </a:rPr>
              <a:t>The question is embedded and matched against 249 passages. Top 5 are selected.</a:t>
            </a:r>
            <a:endParaRPr lang="en-US" sz="1200" dirty="0"/>
          </a:p>
        </p:txBody>
      </p:sp>
      <p:sp>
        <p:nvSpPr>
          <p:cNvPr id="16" name="Shape 14"/>
          <p:cNvSpPr/>
          <p:nvPr/>
        </p:nvSpPr>
        <p:spPr>
          <a:xfrm>
            <a:off x="5056632" y="1874520"/>
            <a:ext cx="2048256" cy="2377440"/>
          </a:xfrm>
          <a:prstGeom prst="roundRect">
            <a:avLst>
              <a:gd name="adj" fmla="val 3571"/>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7" name="Shape 15"/>
          <p:cNvSpPr/>
          <p:nvPr/>
        </p:nvSpPr>
        <p:spPr>
          <a:xfrm>
            <a:off x="5276088" y="2084832"/>
            <a:ext cx="420624" cy="420624"/>
          </a:xfrm>
          <a:prstGeom prst="ellipse">
            <a:avLst/>
          </a:prstGeom>
          <a:solidFill>
            <a:srgbClr val="12263F"/>
          </a:solidFill>
          <a:ln w="12700">
            <a:solidFill>
              <a:srgbClr val="12263F"/>
            </a:solidFill>
            <a:prstDash val="solid"/>
          </a:ln>
        </p:spPr>
      </p:sp>
      <p:sp>
        <p:nvSpPr>
          <p:cNvPr id="18" name="Text 16"/>
          <p:cNvSpPr/>
          <p:nvPr/>
        </p:nvSpPr>
        <p:spPr>
          <a:xfrm>
            <a:off x="5276088" y="20848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5276088" y="2633472"/>
            <a:ext cx="1737360" cy="310896"/>
          </a:xfrm>
          <a:prstGeom prst="rect">
            <a:avLst/>
          </a:prstGeom>
          <a:noFill/>
          <a:ln/>
        </p:spPr>
        <p:txBody>
          <a:bodyPr wrap="square" lIns="0" tIns="0" rIns="0" bIns="0" rtlCol="0" anchor="ctr"/>
          <a:lstStyle/>
          <a:p>
            <a:pPr indent="0" marL="0">
              <a:buNone/>
            </a:pPr>
            <a:r>
              <a:rPr lang="en-US" sz="1600" b="1" dirty="0">
                <a:solidFill>
                  <a:srgbClr val="12263F"/>
                </a:solidFill>
                <a:latin typeface="Cambria" pitchFamily="34" charset="0"/>
                <a:ea typeface="Cambria" pitchFamily="34" charset="-122"/>
                <a:cs typeface="Cambria" pitchFamily="34" charset="-120"/>
              </a:rPr>
              <a:t>Ground</a:t>
            </a:r>
            <a:endParaRPr lang="en-US" sz="1600" dirty="0"/>
          </a:p>
        </p:txBody>
      </p:sp>
      <p:sp>
        <p:nvSpPr>
          <p:cNvPr id="20" name="Text 18"/>
          <p:cNvSpPr/>
          <p:nvPr/>
        </p:nvSpPr>
        <p:spPr>
          <a:xfrm>
            <a:off x="5276088" y="2980944"/>
            <a:ext cx="1664208" cy="1143000"/>
          </a:xfrm>
          <a:prstGeom prst="rect">
            <a:avLst/>
          </a:prstGeom>
          <a:noFill/>
          <a:ln/>
        </p:spPr>
        <p:txBody>
          <a:bodyPr wrap="square" lIns="0" tIns="0" rIns="0" bIns="0" rtlCol="0" anchor="ctr"/>
          <a:lstStyle/>
          <a:p>
            <a:pPr indent="0" marL="0">
              <a:lnSpc>
                <a:spcPts val="1700"/>
              </a:lnSpc>
              <a:buNone/>
            </a:pPr>
            <a:r>
              <a:rPr lang="en-US" sz="1200" dirty="0">
                <a:solidFill>
                  <a:srgbClr val="5D6B7A"/>
                </a:solidFill>
                <a:latin typeface="Calibri" pitchFamily="34" charset="0"/>
                <a:ea typeface="Calibri" pitchFamily="34" charset="-122"/>
                <a:cs typeface="Calibri" pitchFamily="34" charset="-120"/>
              </a:rPr>
              <a:t>Passages go to the model as opaque handles: [E1] … [E5].</a:t>
            </a:r>
            <a:endParaRPr lang="en-US" sz="1200" dirty="0"/>
          </a:p>
        </p:txBody>
      </p:sp>
      <p:sp>
        <p:nvSpPr>
          <p:cNvPr id="21" name="Shape 19"/>
          <p:cNvSpPr/>
          <p:nvPr/>
        </p:nvSpPr>
        <p:spPr>
          <a:xfrm>
            <a:off x="7287768" y="1874520"/>
            <a:ext cx="2048256" cy="2377440"/>
          </a:xfrm>
          <a:prstGeom prst="roundRect">
            <a:avLst>
              <a:gd name="adj" fmla="val 3571"/>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22" name="Shape 20"/>
          <p:cNvSpPr/>
          <p:nvPr/>
        </p:nvSpPr>
        <p:spPr>
          <a:xfrm>
            <a:off x="7507224" y="2084832"/>
            <a:ext cx="420624" cy="420624"/>
          </a:xfrm>
          <a:prstGeom prst="ellipse">
            <a:avLst/>
          </a:prstGeom>
          <a:solidFill>
            <a:srgbClr val="12263F"/>
          </a:solidFill>
          <a:ln w="12700">
            <a:solidFill>
              <a:srgbClr val="12263F"/>
            </a:solidFill>
            <a:prstDash val="solid"/>
          </a:ln>
        </p:spPr>
      </p:sp>
      <p:sp>
        <p:nvSpPr>
          <p:cNvPr id="23" name="Text 21"/>
          <p:cNvSpPr/>
          <p:nvPr/>
        </p:nvSpPr>
        <p:spPr>
          <a:xfrm>
            <a:off x="7507224" y="20848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7507224" y="2633472"/>
            <a:ext cx="1737360" cy="310896"/>
          </a:xfrm>
          <a:prstGeom prst="rect">
            <a:avLst/>
          </a:prstGeom>
          <a:noFill/>
          <a:ln/>
        </p:spPr>
        <p:txBody>
          <a:bodyPr wrap="square" lIns="0" tIns="0" rIns="0" bIns="0" rtlCol="0" anchor="ctr"/>
          <a:lstStyle/>
          <a:p>
            <a:pPr indent="0" marL="0">
              <a:buNone/>
            </a:pPr>
            <a:r>
              <a:rPr lang="en-US" sz="1600" b="1" dirty="0">
                <a:solidFill>
                  <a:srgbClr val="12263F"/>
                </a:solidFill>
                <a:latin typeface="Cambria" pitchFamily="34" charset="0"/>
                <a:ea typeface="Cambria" pitchFamily="34" charset="-122"/>
                <a:cs typeface="Cambria" pitchFamily="34" charset="-120"/>
              </a:rPr>
              <a:t>Validate</a:t>
            </a:r>
            <a:endParaRPr lang="en-US" sz="1600" dirty="0"/>
          </a:p>
        </p:txBody>
      </p:sp>
      <p:sp>
        <p:nvSpPr>
          <p:cNvPr id="25" name="Text 23"/>
          <p:cNvSpPr/>
          <p:nvPr/>
        </p:nvSpPr>
        <p:spPr>
          <a:xfrm>
            <a:off x="7507224" y="2980944"/>
            <a:ext cx="1664208" cy="1143000"/>
          </a:xfrm>
          <a:prstGeom prst="rect">
            <a:avLst/>
          </a:prstGeom>
          <a:noFill/>
          <a:ln/>
        </p:spPr>
        <p:txBody>
          <a:bodyPr wrap="square" lIns="0" tIns="0" rIns="0" bIns="0" rtlCol="0" anchor="ctr"/>
          <a:lstStyle/>
          <a:p>
            <a:pPr indent="0" marL="0">
              <a:lnSpc>
                <a:spcPts val="1700"/>
              </a:lnSpc>
              <a:buNone/>
            </a:pPr>
            <a:r>
              <a:rPr lang="en-US" sz="1200" dirty="0">
                <a:solidFill>
                  <a:srgbClr val="5D6B7A"/>
                </a:solidFill>
                <a:latin typeface="Calibri" pitchFamily="34" charset="0"/>
                <a:ea typeface="Calibri" pitchFamily="34" charset="-122"/>
                <a:cs typeface="Calibri" pitchFamily="34" charset="-120"/>
              </a:rPr>
              <a:t>Output is checked against the evidence before anything is shown.</a:t>
            </a:r>
            <a:endParaRPr lang="en-US" sz="1200" dirty="0"/>
          </a:p>
        </p:txBody>
      </p:sp>
      <p:sp>
        <p:nvSpPr>
          <p:cNvPr id="26" name="Shape 24"/>
          <p:cNvSpPr/>
          <p:nvPr/>
        </p:nvSpPr>
        <p:spPr>
          <a:xfrm>
            <a:off x="9518904" y="1874520"/>
            <a:ext cx="2048256" cy="2377440"/>
          </a:xfrm>
          <a:prstGeom prst="roundRect">
            <a:avLst>
              <a:gd name="adj" fmla="val 3571"/>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27" name="Shape 25"/>
          <p:cNvSpPr/>
          <p:nvPr/>
        </p:nvSpPr>
        <p:spPr>
          <a:xfrm>
            <a:off x="9738360" y="2084832"/>
            <a:ext cx="420624" cy="420624"/>
          </a:xfrm>
          <a:prstGeom prst="ellipse">
            <a:avLst/>
          </a:prstGeom>
          <a:solidFill>
            <a:srgbClr val="D08C1E"/>
          </a:solidFill>
          <a:ln w="12700">
            <a:solidFill>
              <a:srgbClr val="D08C1E"/>
            </a:solidFill>
            <a:prstDash val="solid"/>
          </a:ln>
        </p:spPr>
      </p:sp>
      <p:sp>
        <p:nvSpPr>
          <p:cNvPr id="28" name="Text 26"/>
          <p:cNvSpPr/>
          <p:nvPr/>
        </p:nvSpPr>
        <p:spPr>
          <a:xfrm>
            <a:off x="9738360" y="20848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9738360" y="2633472"/>
            <a:ext cx="1737360" cy="310896"/>
          </a:xfrm>
          <a:prstGeom prst="rect">
            <a:avLst/>
          </a:prstGeom>
          <a:noFill/>
          <a:ln/>
        </p:spPr>
        <p:txBody>
          <a:bodyPr wrap="square" lIns="0" tIns="0" rIns="0" bIns="0" rtlCol="0" anchor="ctr"/>
          <a:lstStyle/>
          <a:p>
            <a:pPr indent="0" marL="0">
              <a:buNone/>
            </a:pPr>
            <a:r>
              <a:rPr lang="en-US" sz="1600" b="1" dirty="0">
                <a:solidFill>
                  <a:srgbClr val="12263F"/>
                </a:solidFill>
                <a:latin typeface="Cambria" pitchFamily="34" charset="0"/>
                <a:ea typeface="Cambria" pitchFamily="34" charset="-122"/>
                <a:cs typeface="Cambria" pitchFamily="34" charset="-120"/>
              </a:rPr>
              <a:t>Resolve</a:t>
            </a:r>
            <a:endParaRPr lang="en-US" sz="1600" dirty="0"/>
          </a:p>
        </p:txBody>
      </p:sp>
      <p:sp>
        <p:nvSpPr>
          <p:cNvPr id="30" name="Text 28"/>
          <p:cNvSpPr/>
          <p:nvPr/>
        </p:nvSpPr>
        <p:spPr>
          <a:xfrm>
            <a:off x="9738360" y="2980944"/>
            <a:ext cx="1664208" cy="1143000"/>
          </a:xfrm>
          <a:prstGeom prst="rect">
            <a:avLst/>
          </a:prstGeom>
          <a:noFill/>
          <a:ln/>
        </p:spPr>
        <p:txBody>
          <a:bodyPr wrap="square" lIns="0" tIns="0" rIns="0" bIns="0" rtlCol="0" anchor="ctr"/>
          <a:lstStyle/>
          <a:p>
            <a:pPr indent="0" marL="0">
              <a:lnSpc>
                <a:spcPts val="1700"/>
              </a:lnSpc>
              <a:buNone/>
            </a:pPr>
            <a:r>
              <a:rPr lang="en-US" sz="1200" dirty="0">
                <a:solidFill>
                  <a:srgbClr val="5D6B7A"/>
                </a:solidFill>
                <a:latin typeface="Calibri" pitchFamily="34" charset="0"/>
                <a:ea typeface="Calibri" pitchFamily="34" charset="-122"/>
                <a:cs typeface="Calibri" pitchFamily="34" charset="-120"/>
              </a:rPr>
              <a:t>Handles become page-numbered citations, by code, from stored provenance.</a:t>
            </a:r>
            <a:endParaRPr lang="en-US" sz="1200" dirty="0"/>
          </a:p>
        </p:txBody>
      </p:sp>
      <p:sp>
        <p:nvSpPr>
          <p:cNvPr id="31" name="Shape 29"/>
          <p:cNvSpPr/>
          <p:nvPr/>
        </p:nvSpPr>
        <p:spPr>
          <a:xfrm>
            <a:off x="594360" y="4663440"/>
            <a:ext cx="10835640" cy="1188720"/>
          </a:xfrm>
          <a:prstGeom prst="roundRect">
            <a:avLst>
              <a:gd name="adj" fmla="val 6154"/>
            </a:avLst>
          </a:prstGeom>
          <a:solidFill>
            <a:srgbClr val="12263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32" name="Text 30"/>
          <p:cNvSpPr/>
          <p:nvPr/>
        </p:nvSpPr>
        <p:spPr>
          <a:xfrm>
            <a:off x="1005840" y="4983480"/>
            <a:ext cx="10058400" cy="640080"/>
          </a:xfrm>
          <a:prstGeom prst="rect">
            <a:avLst/>
          </a:prstGeom>
          <a:noFill/>
          <a:ln/>
        </p:spPr>
        <p:txBody>
          <a:bodyPr wrap="square" lIns="0" tIns="0" rIns="0" bIns="0" rtlCol="0" anchor="ctr"/>
          <a:lstStyle/>
          <a:p>
            <a:pPr indent="0" marL="0">
              <a:lnSpc>
                <a:spcPts val="2400"/>
              </a:lnSpc>
              <a:buNone/>
            </a:pPr>
            <a:r>
              <a:rPr lang="en-US" sz="1650" i="1" dirty="0">
                <a:solidFill>
                  <a:srgbClr val="FFFFFF"/>
                </a:solidFill>
                <a:latin typeface="Cambria" pitchFamily="34" charset="0"/>
                <a:ea typeface="Cambria" pitchFamily="34" charset="-122"/>
                <a:cs typeface="Cambria" pitchFamily="34" charset="-120"/>
              </a:rPr>
              <a:t>Three interfaces — a command line, an interactive prompt, and this web app — call one pipeline, so all three behave identically.</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THE KEY MECHANISM</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The model never sees a page number</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94360" y="1783080"/>
            <a:ext cx="5257800" cy="2880360"/>
          </a:xfrm>
          <a:prstGeom prst="roundRect">
            <a:avLst>
              <a:gd name="adj" fmla="val 2540"/>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7" name="Text 5"/>
          <p:cNvSpPr/>
          <p:nvPr/>
        </p:nvSpPr>
        <p:spPr>
          <a:xfrm>
            <a:off x="914400" y="1993392"/>
            <a:ext cx="4663440" cy="274320"/>
          </a:xfrm>
          <a:prstGeom prst="rect">
            <a:avLst/>
          </a:prstGeom>
          <a:noFill/>
          <a:ln/>
        </p:spPr>
        <p:txBody>
          <a:bodyPr wrap="square" lIns="0" tIns="0" rIns="0" bIns="0" rtlCol="0" anchor="ctr"/>
          <a:lstStyle/>
          <a:p>
            <a:pPr indent="0" marL="0">
              <a:buNone/>
            </a:pPr>
            <a:r>
              <a:rPr lang="en-US" sz="1150" b="1" spc="100" kern="0" dirty="0">
                <a:solidFill>
                  <a:srgbClr val="5D6B7A"/>
                </a:solidFill>
                <a:latin typeface="Calibri" pitchFamily="34" charset="0"/>
                <a:ea typeface="Calibri" pitchFamily="34" charset="-122"/>
                <a:cs typeface="Calibri" pitchFamily="34" charset="-120"/>
              </a:rPr>
              <a:t>WHAT THE MODEL RECEIVES</a:t>
            </a:r>
            <a:endParaRPr lang="en-US" sz="1150" dirty="0"/>
          </a:p>
        </p:txBody>
      </p:sp>
      <p:sp>
        <p:nvSpPr>
          <p:cNvPr id="8" name="Text 6"/>
          <p:cNvSpPr/>
          <p:nvPr/>
        </p:nvSpPr>
        <p:spPr>
          <a:xfrm>
            <a:off x="914400" y="2359152"/>
            <a:ext cx="4709160" cy="2103120"/>
          </a:xfrm>
          <a:prstGeom prst="rect">
            <a:avLst/>
          </a:prstGeom>
          <a:noFill/>
          <a:ln/>
        </p:spPr>
        <p:txBody>
          <a:bodyPr wrap="square" lIns="0" tIns="0" rIns="0" bIns="0" rtlCol="0" anchor="ctr"/>
          <a:lstStyle/>
          <a:p>
            <a:pPr indent="0" marL="0">
              <a:lnSpc>
                <a:spcPts val="1700"/>
              </a:lnSpc>
              <a:buNone/>
            </a:pPr>
            <a:r>
              <a:rPr lang="en-US" sz="1100" dirty="0">
                <a:solidFill>
                  <a:srgbClr val="1A2733"/>
                </a:solidFill>
                <a:latin typeface="Courier New" pitchFamily="34" charset="0"/>
                <a:ea typeface="Courier New" pitchFamily="34" charset="-122"/>
                <a:cs typeface="Courier New" pitchFamily="34" charset="-120"/>
              </a:rPr>
              <a:t>[E1]  Sönmez (2014) — Chapter: Main Issues in</a:t>
            </a:r>
            <a:endParaRPr lang="en-US" sz="1100" dirty="0"/>
          </a:p>
          <a:p>
            <a:pPr indent="0" marL="0">
              <a:lnSpc>
                <a:spcPts val="1700"/>
              </a:lnSpc>
              <a:buNone/>
            </a:pPr>
            <a:r>
              <a:rPr lang="en-US" sz="1100" dirty="0">
                <a:solidFill>
                  <a:srgbClr val="1A2733"/>
                </a:solidFill>
                <a:latin typeface="Courier New" pitchFamily="34" charset="0"/>
                <a:ea typeface="Courier New" pitchFamily="34" charset="-122"/>
                <a:cs typeface="Courier New" pitchFamily="34" charset="-120"/>
              </a:rPr>
              <a:t>Corporate Governance — Section: 2.2.1 Imar Bank</a:t>
            </a:r>
            <a:endParaRPr lang="en-US" sz="1100" dirty="0"/>
          </a:p>
          <a:p>
            <a:pPr indent="0" marL="0">
              <a:lnSpc>
                <a:spcPts val="1700"/>
              </a:lnSpc>
              <a:buNone/>
            </a:pPr>
            <a:endParaRPr lang="en-US" sz="1100" dirty="0"/>
          </a:p>
          <a:p>
            <a:pPr indent="0" marL="0">
              <a:lnSpc>
                <a:spcPts val="1700"/>
              </a:lnSpc>
              <a:buNone/>
            </a:pPr>
            <a:r>
              <a:rPr lang="en-US" sz="1100" dirty="0">
                <a:solidFill>
                  <a:srgbClr val="1A2733"/>
                </a:solidFill>
                <a:latin typeface="Courier New" pitchFamily="34" charset="0"/>
                <a:ea typeface="Courier New" pitchFamily="34" charset="-122"/>
                <a:cs typeface="Courier New" pitchFamily="34" charset="-120"/>
              </a:rPr>
              <a:t>“… the underlying reasons of this scandal,</a:t>
            </a:r>
            <a:endParaRPr lang="en-US" sz="1100" dirty="0"/>
          </a:p>
          <a:p>
            <a:pPr indent="0" marL="0">
              <a:lnSpc>
                <a:spcPts val="1700"/>
              </a:lnSpc>
              <a:buNone/>
            </a:pPr>
            <a:r>
              <a:rPr lang="en-US" sz="1100" dirty="0">
                <a:solidFill>
                  <a:srgbClr val="1A2733"/>
                </a:solidFill>
                <a:latin typeface="Courier New" pitchFamily="34" charset="0"/>
                <a:ea typeface="Courier New" pitchFamily="34" charset="-122"/>
                <a:cs typeface="Courier New" pitchFamily="34" charset="-120"/>
              </a:rPr>
              <a:t>‘shareholders’ fraud, poor management, insufficient</a:t>
            </a:r>
            <a:endParaRPr lang="en-US" sz="1100" dirty="0"/>
          </a:p>
          <a:p>
            <a:pPr indent="0" marL="0">
              <a:lnSpc>
                <a:spcPts val="1700"/>
              </a:lnSpc>
              <a:buNone/>
            </a:pPr>
            <a:r>
              <a:rPr lang="en-US" sz="1100" dirty="0">
                <a:solidFill>
                  <a:srgbClr val="1A2733"/>
                </a:solidFill>
                <a:latin typeface="Courier New" pitchFamily="34" charset="0"/>
                <a:ea typeface="Courier New" pitchFamily="34" charset="-122"/>
                <a:cs typeface="Courier New" pitchFamily="34" charset="-120"/>
              </a:rPr>
              <a:t>regulations’ and audit failure can be highlighted …”</a:t>
            </a:r>
            <a:endParaRPr lang="en-US" sz="1100" dirty="0"/>
          </a:p>
        </p:txBody>
      </p:sp>
      <p:sp>
        <p:nvSpPr>
          <p:cNvPr id="9" name="Text 7"/>
          <p:cNvSpPr/>
          <p:nvPr/>
        </p:nvSpPr>
        <p:spPr>
          <a:xfrm>
            <a:off x="914400" y="4160520"/>
            <a:ext cx="4663440" cy="320040"/>
          </a:xfrm>
          <a:prstGeom prst="rect">
            <a:avLst/>
          </a:prstGeom>
          <a:noFill/>
          <a:ln/>
        </p:spPr>
        <p:txBody>
          <a:bodyPr wrap="square" lIns="0" tIns="0" rIns="0" bIns="0" rtlCol="0" anchor="ctr"/>
          <a:lstStyle/>
          <a:p>
            <a:pPr indent="0" marL="0">
              <a:buNone/>
            </a:pPr>
            <a:r>
              <a:rPr lang="en-US" sz="1150" i="1" dirty="0">
                <a:solidFill>
                  <a:srgbClr val="D08C1E"/>
                </a:solidFill>
                <a:latin typeface="Calibri" pitchFamily="34" charset="0"/>
                <a:ea typeface="Calibri" pitchFamily="34" charset="-122"/>
                <a:cs typeface="Calibri" pitchFamily="34" charset="-120"/>
              </a:rPr>
              <a:t>No page number anywhere in the model's input.</a:t>
            </a:r>
            <a:endParaRPr lang="en-US" sz="1150" dirty="0"/>
          </a:p>
        </p:txBody>
      </p:sp>
      <p:sp>
        <p:nvSpPr>
          <p:cNvPr id="10" name="Shape 8"/>
          <p:cNvSpPr/>
          <p:nvPr/>
        </p:nvSpPr>
        <p:spPr>
          <a:xfrm>
            <a:off x="6355080" y="1783080"/>
            <a:ext cx="5239512" cy="2880360"/>
          </a:xfrm>
          <a:prstGeom prst="roundRect">
            <a:avLst>
              <a:gd name="adj" fmla="val 2540"/>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1" name="Text 9"/>
          <p:cNvSpPr/>
          <p:nvPr/>
        </p:nvSpPr>
        <p:spPr>
          <a:xfrm>
            <a:off x="6675120" y="1993392"/>
            <a:ext cx="4663440" cy="274320"/>
          </a:xfrm>
          <a:prstGeom prst="rect">
            <a:avLst/>
          </a:prstGeom>
          <a:noFill/>
          <a:ln/>
        </p:spPr>
        <p:txBody>
          <a:bodyPr wrap="square" lIns="0" tIns="0" rIns="0" bIns="0" rtlCol="0" anchor="ctr"/>
          <a:lstStyle/>
          <a:p>
            <a:pPr indent="0" marL="0">
              <a:buNone/>
            </a:pPr>
            <a:r>
              <a:rPr lang="en-US" sz="1150" b="1" spc="100" kern="0" dirty="0">
                <a:solidFill>
                  <a:srgbClr val="5D6B7A"/>
                </a:solidFill>
                <a:latin typeface="Calibri" pitchFamily="34" charset="0"/>
                <a:ea typeface="Calibri" pitchFamily="34" charset="-122"/>
                <a:cs typeface="Calibri" pitchFamily="34" charset="-120"/>
              </a:rPr>
              <a:t>WHAT THE READER RECEIVES</a:t>
            </a:r>
            <a:endParaRPr lang="en-US" sz="1150" dirty="0"/>
          </a:p>
        </p:txBody>
      </p:sp>
      <p:sp>
        <p:nvSpPr>
          <p:cNvPr id="12" name="Text 10"/>
          <p:cNvSpPr/>
          <p:nvPr/>
        </p:nvSpPr>
        <p:spPr>
          <a:xfrm>
            <a:off x="6675120" y="2395728"/>
            <a:ext cx="4663440" cy="640080"/>
          </a:xfrm>
          <a:prstGeom prst="rect">
            <a:avLst/>
          </a:prstGeom>
          <a:noFill/>
          <a:ln/>
        </p:spPr>
        <p:txBody>
          <a:bodyPr wrap="square" lIns="0" tIns="0" rIns="0" bIns="0" rtlCol="0" anchor="ctr"/>
          <a:lstStyle/>
          <a:p>
            <a:pPr indent="0" marL="0">
              <a:lnSpc>
                <a:spcPts val="2200"/>
              </a:lnSpc>
              <a:buNone/>
            </a:pPr>
            <a:r>
              <a:rPr lang="en-US" sz="1450" dirty="0">
                <a:solidFill>
                  <a:srgbClr val="1A2733"/>
                </a:solidFill>
                <a:latin typeface="Calibri" pitchFamily="34" charset="0"/>
                <a:ea typeface="Calibri" pitchFamily="34" charset="-122"/>
                <a:cs typeface="Calibri" pitchFamily="34" charset="-120"/>
              </a:rPr>
              <a:t>“… insufficient regulations’ and audit failure </a:t>
            </a:r>
            <a:pPr indent="0" marL="0">
              <a:lnSpc>
                <a:spcPts val="2200"/>
              </a:lnSpc>
              <a:buNone/>
            </a:pPr>
            <a:r>
              <a:rPr lang="en-US" sz="1450" b="1" dirty="0">
                <a:solidFill>
                  <a:srgbClr val="D08C1E"/>
                </a:solidFill>
                <a:latin typeface="Calibri" pitchFamily="34" charset="0"/>
                <a:ea typeface="Calibri" pitchFamily="34" charset="-122"/>
                <a:cs typeface="Calibri" pitchFamily="34" charset="-120"/>
              </a:rPr>
              <a:t>¹</a:t>
            </a:r>
            <a:pPr indent="0" marL="0">
              <a:lnSpc>
                <a:spcPts val="2200"/>
              </a:lnSpc>
              <a:buNone/>
            </a:pPr>
            <a:r>
              <a:rPr lang="en-US" sz="1450" dirty="0">
                <a:solidFill>
                  <a:srgbClr val="1A2733"/>
                </a:solidFill>
                <a:latin typeface="Calibri" pitchFamily="34" charset="0"/>
                <a:ea typeface="Calibri" pitchFamily="34" charset="-122"/>
                <a:cs typeface="Calibri" pitchFamily="34" charset="-120"/>
              </a:rPr>
              <a:t>.”</a:t>
            </a:r>
            <a:endParaRPr lang="en-US" sz="1450" dirty="0"/>
          </a:p>
        </p:txBody>
      </p:sp>
      <p:sp>
        <p:nvSpPr>
          <p:cNvPr id="13" name="Text 11"/>
          <p:cNvSpPr/>
          <p:nvPr/>
        </p:nvSpPr>
        <p:spPr>
          <a:xfrm>
            <a:off x="6675120" y="3108960"/>
            <a:ext cx="4709160" cy="822960"/>
          </a:xfrm>
          <a:prstGeom prst="rect">
            <a:avLst/>
          </a:prstGeom>
          <a:noFill/>
          <a:ln/>
        </p:spPr>
        <p:txBody>
          <a:bodyPr wrap="square" lIns="0" tIns="0" rIns="0" bIns="0" rtlCol="0" anchor="ctr"/>
          <a:lstStyle/>
          <a:p>
            <a:pPr indent="0" marL="0">
              <a:lnSpc>
                <a:spcPts val="2100"/>
              </a:lnSpc>
              <a:buNone/>
            </a:pPr>
            <a:r>
              <a:rPr lang="en-US" sz="1300" dirty="0">
                <a:solidFill>
                  <a:srgbClr val="2E5E7E"/>
                </a:solidFill>
                <a:latin typeface="Calibri" pitchFamily="34" charset="0"/>
                <a:ea typeface="Calibri" pitchFamily="34" charset="-122"/>
                <a:cs typeface="Calibri" pitchFamily="34" charset="-120"/>
              </a:rPr>
              <a:t>1.  Sönmez, M. (2014), Ch. “Main Issues in Corporate</a:t>
            </a:r>
            <a:endParaRPr lang="en-US" sz="1300" dirty="0"/>
          </a:p>
          <a:p>
            <a:pPr indent="0" marL="0">
              <a:lnSpc>
                <a:spcPts val="2100"/>
              </a:lnSpc>
              <a:buNone/>
            </a:pPr>
            <a:r>
              <a:rPr lang="en-US" sz="1300" dirty="0">
                <a:solidFill>
                  <a:srgbClr val="2E5E7E"/>
                </a:solidFill>
                <a:latin typeface="Calibri" pitchFamily="34" charset="0"/>
                <a:ea typeface="Calibri" pitchFamily="34" charset="-122"/>
                <a:cs typeface="Calibri" pitchFamily="34" charset="-120"/>
              </a:rPr>
              <a:t>     Governance”, § 2.2.1 Imar Bank, pp. 88–89.</a:t>
            </a:r>
            <a:endParaRPr lang="en-US" sz="1300" dirty="0"/>
          </a:p>
        </p:txBody>
      </p:sp>
      <p:sp>
        <p:nvSpPr>
          <p:cNvPr id="14" name="Text 12"/>
          <p:cNvSpPr/>
          <p:nvPr/>
        </p:nvSpPr>
        <p:spPr>
          <a:xfrm>
            <a:off x="6675120" y="4160520"/>
            <a:ext cx="4663440" cy="320040"/>
          </a:xfrm>
          <a:prstGeom prst="rect">
            <a:avLst/>
          </a:prstGeom>
          <a:noFill/>
          <a:ln/>
        </p:spPr>
        <p:txBody>
          <a:bodyPr wrap="square" lIns="0" tIns="0" rIns="0" bIns="0" rtlCol="0" anchor="ctr"/>
          <a:lstStyle/>
          <a:p>
            <a:pPr indent="0" marL="0">
              <a:buNone/>
            </a:pPr>
            <a:r>
              <a:rPr lang="en-US" sz="1150" i="1" dirty="0">
                <a:solidFill>
                  <a:srgbClr val="5D6B7A"/>
                </a:solidFill>
                <a:latin typeface="Calibri" pitchFamily="34" charset="0"/>
                <a:ea typeface="Calibri" pitchFamily="34" charset="-122"/>
                <a:cs typeface="Calibri" pitchFamily="34" charset="-120"/>
              </a:rPr>
              <a:t>Resolved by code, from stored provenance — never by the model.</a:t>
            </a:r>
            <a:endParaRPr lang="en-US" sz="1150" dirty="0"/>
          </a:p>
        </p:txBody>
      </p:sp>
      <p:sp>
        <p:nvSpPr>
          <p:cNvPr id="15" name="Shape 13"/>
          <p:cNvSpPr/>
          <p:nvPr/>
        </p:nvSpPr>
        <p:spPr>
          <a:xfrm>
            <a:off x="594360" y="4983480"/>
            <a:ext cx="10835640" cy="1051560"/>
          </a:xfrm>
          <a:prstGeom prst="roundRect">
            <a:avLst>
              <a:gd name="adj" fmla="val 6957"/>
            </a:avLst>
          </a:prstGeom>
          <a:solidFill>
            <a:srgbClr val="12263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6" name="Text 14"/>
          <p:cNvSpPr/>
          <p:nvPr/>
        </p:nvSpPr>
        <p:spPr>
          <a:xfrm>
            <a:off x="1005840" y="5230368"/>
            <a:ext cx="10058400" cy="548640"/>
          </a:xfrm>
          <a:prstGeom prst="rect">
            <a:avLst/>
          </a:prstGeom>
          <a:noFill/>
          <a:ln/>
        </p:spPr>
        <p:txBody>
          <a:bodyPr wrap="square" lIns="0" tIns="0" rIns="0" bIns="0" rtlCol="0" anchor="ctr"/>
          <a:lstStyle/>
          <a:p>
            <a:pPr indent="0" marL="0">
              <a:buNone/>
            </a:pPr>
            <a:r>
              <a:rPr lang="en-US" sz="1700" i="1" dirty="0">
                <a:solidFill>
                  <a:srgbClr val="FFFFFF"/>
                </a:solidFill>
                <a:latin typeface="Cambria" pitchFamily="34" charset="0"/>
                <a:ea typeface="Cambria" pitchFamily="34" charset="-122"/>
                <a:cs typeface="Cambria" pitchFamily="34" charset="-120"/>
              </a:rPr>
              <a:t>A page number that is not in the source extraction cannot reach the output. Not unlikely — impossible.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OUTCOMES</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Three answers, not one</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94360" y="1874520"/>
            <a:ext cx="3429000" cy="2971800"/>
          </a:xfrm>
          <a:prstGeom prst="roundRect">
            <a:avLst>
              <a:gd name="adj" fmla="val 2462"/>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7" name="Shape 5"/>
          <p:cNvSpPr/>
          <p:nvPr/>
        </p:nvSpPr>
        <p:spPr>
          <a:xfrm>
            <a:off x="886968" y="2121408"/>
            <a:ext cx="1783080" cy="384048"/>
          </a:xfrm>
          <a:prstGeom prst="roundRect">
            <a:avLst>
              <a:gd name="adj" fmla="val 47619"/>
            </a:avLst>
          </a:prstGeom>
          <a:solidFill>
            <a:srgbClr val="12263F"/>
          </a:solidFill>
          <a:ln w="12700">
            <a:solidFill>
              <a:srgbClr val="333333"/>
            </a:solidFill>
            <a:prstDash val="solid"/>
          </a:ln>
        </p:spPr>
      </p:sp>
      <p:sp>
        <p:nvSpPr>
          <p:cNvPr id="8" name="Text 6"/>
          <p:cNvSpPr/>
          <p:nvPr/>
        </p:nvSpPr>
        <p:spPr>
          <a:xfrm>
            <a:off x="886968" y="2121408"/>
            <a:ext cx="178308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Sufficient</a:t>
            </a:r>
            <a:endParaRPr lang="en-US" sz="1250" dirty="0"/>
          </a:p>
        </p:txBody>
      </p:sp>
      <p:sp>
        <p:nvSpPr>
          <p:cNvPr id="9" name="Text 7"/>
          <p:cNvSpPr/>
          <p:nvPr/>
        </p:nvSpPr>
        <p:spPr>
          <a:xfrm>
            <a:off x="886968" y="2697480"/>
            <a:ext cx="2834640" cy="548640"/>
          </a:xfrm>
          <a:prstGeom prst="rect">
            <a:avLst/>
          </a:prstGeom>
          <a:noFill/>
          <a:ln/>
        </p:spPr>
        <p:txBody>
          <a:bodyPr wrap="square" lIns="0" tIns="0" rIns="0" bIns="0" rtlCol="0" anchor="ctr"/>
          <a:lstStyle/>
          <a:p>
            <a:pPr indent="0" marL="0">
              <a:lnSpc>
                <a:spcPts val="2100"/>
              </a:lnSpc>
              <a:buNone/>
            </a:pPr>
            <a:r>
              <a:rPr lang="en-US" sz="1500" b="1" dirty="0">
                <a:solidFill>
                  <a:srgbClr val="12263F"/>
                </a:solidFill>
                <a:latin typeface="Cambria" pitchFamily="34" charset="0"/>
                <a:ea typeface="Cambria" pitchFamily="34" charset="-122"/>
                <a:cs typeface="Cambria" pitchFamily="34" charset="-120"/>
              </a:rPr>
              <a:t>The passages support an answer.</a:t>
            </a:r>
            <a:endParaRPr lang="en-US" sz="1500" dirty="0"/>
          </a:p>
        </p:txBody>
      </p:sp>
      <p:sp>
        <p:nvSpPr>
          <p:cNvPr id="10" name="Text 8"/>
          <p:cNvSpPr/>
          <p:nvPr/>
        </p:nvSpPr>
        <p:spPr>
          <a:xfrm>
            <a:off x="886968" y="3310128"/>
            <a:ext cx="2880360" cy="1371600"/>
          </a:xfrm>
          <a:prstGeom prst="rect">
            <a:avLst/>
          </a:prstGeom>
          <a:noFill/>
          <a:ln/>
        </p:spPr>
        <p:txBody>
          <a:bodyPr wrap="square" lIns="0" tIns="0" rIns="0" bIns="0" rtlCol="0" anchor="ctr"/>
          <a:lstStyle/>
          <a:p>
            <a:pPr indent="0" marL="0">
              <a:lnSpc>
                <a:spcPts val="1900"/>
              </a:lnSpc>
              <a:buNone/>
            </a:pPr>
            <a:r>
              <a:rPr lang="en-US" sz="1300" dirty="0">
                <a:solidFill>
                  <a:srgbClr val="5D6B7A"/>
                </a:solidFill>
                <a:latin typeface="Calibri" pitchFamily="34" charset="0"/>
                <a:ea typeface="Calibri" pitchFamily="34" charset="-122"/>
                <a:cs typeface="Calibri" pitchFamily="34" charset="-120"/>
              </a:rPr>
              <a:t>Prose, superscript markers, a Sources line with real pages, and the limits of the answer stated.</a:t>
            </a:r>
            <a:endParaRPr lang="en-US" sz="1300" dirty="0"/>
          </a:p>
        </p:txBody>
      </p:sp>
      <p:sp>
        <p:nvSpPr>
          <p:cNvPr id="11" name="Shape 9"/>
          <p:cNvSpPr/>
          <p:nvPr/>
        </p:nvSpPr>
        <p:spPr>
          <a:xfrm>
            <a:off x="4270248" y="1874520"/>
            <a:ext cx="3429000" cy="2971800"/>
          </a:xfrm>
          <a:prstGeom prst="roundRect">
            <a:avLst>
              <a:gd name="adj" fmla="val 2462"/>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2" name="Shape 10"/>
          <p:cNvSpPr/>
          <p:nvPr/>
        </p:nvSpPr>
        <p:spPr>
          <a:xfrm>
            <a:off x="4562856" y="2121408"/>
            <a:ext cx="1783080" cy="384048"/>
          </a:xfrm>
          <a:prstGeom prst="roundRect">
            <a:avLst>
              <a:gd name="adj" fmla="val 47619"/>
            </a:avLst>
          </a:prstGeom>
          <a:solidFill>
            <a:srgbClr val="2E5E7E"/>
          </a:solidFill>
          <a:ln w="12700">
            <a:solidFill>
              <a:srgbClr val="333333"/>
            </a:solidFill>
            <a:prstDash val="solid"/>
          </a:ln>
        </p:spPr>
      </p:sp>
      <p:sp>
        <p:nvSpPr>
          <p:cNvPr id="13" name="Text 11"/>
          <p:cNvSpPr/>
          <p:nvPr/>
        </p:nvSpPr>
        <p:spPr>
          <a:xfrm>
            <a:off x="4562856" y="2121408"/>
            <a:ext cx="178308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Partial</a:t>
            </a:r>
            <a:endParaRPr lang="en-US" sz="1250" dirty="0"/>
          </a:p>
        </p:txBody>
      </p:sp>
      <p:sp>
        <p:nvSpPr>
          <p:cNvPr id="14" name="Text 12"/>
          <p:cNvSpPr/>
          <p:nvPr/>
        </p:nvSpPr>
        <p:spPr>
          <a:xfrm>
            <a:off x="4562856" y="2697480"/>
            <a:ext cx="2834640" cy="548640"/>
          </a:xfrm>
          <a:prstGeom prst="rect">
            <a:avLst/>
          </a:prstGeom>
          <a:noFill/>
          <a:ln/>
        </p:spPr>
        <p:txBody>
          <a:bodyPr wrap="square" lIns="0" tIns="0" rIns="0" bIns="0" rtlCol="0" anchor="ctr"/>
          <a:lstStyle/>
          <a:p>
            <a:pPr indent="0" marL="0">
              <a:lnSpc>
                <a:spcPts val="2100"/>
              </a:lnSpc>
              <a:buNone/>
            </a:pPr>
            <a:r>
              <a:rPr lang="en-US" sz="1500" b="1" dirty="0">
                <a:solidFill>
                  <a:srgbClr val="12263F"/>
                </a:solidFill>
                <a:latin typeface="Cambria" pitchFamily="34" charset="0"/>
                <a:ea typeface="Cambria" pitchFamily="34" charset="-122"/>
                <a:cs typeface="Cambria" pitchFamily="34" charset="-120"/>
              </a:rPr>
              <a:t>Part of the question is supported.</a:t>
            </a:r>
            <a:endParaRPr lang="en-US" sz="1500" dirty="0"/>
          </a:p>
        </p:txBody>
      </p:sp>
      <p:sp>
        <p:nvSpPr>
          <p:cNvPr id="15" name="Text 13"/>
          <p:cNvSpPr/>
          <p:nvPr/>
        </p:nvSpPr>
        <p:spPr>
          <a:xfrm>
            <a:off x="4562856" y="3310128"/>
            <a:ext cx="2880360" cy="1371600"/>
          </a:xfrm>
          <a:prstGeom prst="rect">
            <a:avLst/>
          </a:prstGeom>
          <a:noFill/>
          <a:ln/>
        </p:spPr>
        <p:txBody>
          <a:bodyPr wrap="square" lIns="0" tIns="0" rIns="0" bIns="0" rtlCol="0" anchor="ctr"/>
          <a:lstStyle/>
          <a:p>
            <a:pPr indent="0" marL="0">
              <a:lnSpc>
                <a:spcPts val="1900"/>
              </a:lnSpc>
              <a:buNone/>
            </a:pPr>
            <a:r>
              <a:rPr lang="en-US" sz="1300" dirty="0">
                <a:solidFill>
                  <a:srgbClr val="5D6B7A"/>
                </a:solidFill>
                <a:latin typeface="Calibri" pitchFamily="34" charset="0"/>
                <a:ea typeface="Calibri" pitchFamily="34" charset="-122"/>
                <a:cs typeface="Calibri" pitchFamily="34" charset="-120"/>
              </a:rPr>
              <a:t>The answer is given for the supported part, and the unsupported part is named explicitly.</a:t>
            </a:r>
            <a:endParaRPr lang="en-US" sz="1300" dirty="0"/>
          </a:p>
        </p:txBody>
      </p:sp>
      <p:sp>
        <p:nvSpPr>
          <p:cNvPr id="16" name="Shape 14"/>
          <p:cNvSpPr/>
          <p:nvPr/>
        </p:nvSpPr>
        <p:spPr>
          <a:xfrm>
            <a:off x="7946136" y="1874520"/>
            <a:ext cx="3429000" cy="2971800"/>
          </a:xfrm>
          <a:prstGeom prst="roundRect">
            <a:avLst>
              <a:gd name="adj" fmla="val 2462"/>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7" name="Shape 15"/>
          <p:cNvSpPr/>
          <p:nvPr/>
        </p:nvSpPr>
        <p:spPr>
          <a:xfrm>
            <a:off x="8238744" y="2121408"/>
            <a:ext cx="1783080" cy="384048"/>
          </a:xfrm>
          <a:prstGeom prst="roundRect">
            <a:avLst>
              <a:gd name="adj" fmla="val 47619"/>
            </a:avLst>
          </a:prstGeom>
          <a:solidFill>
            <a:srgbClr val="D08C1E"/>
          </a:solidFill>
          <a:ln w="12700">
            <a:solidFill>
              <a:srgbClr val="333333"/>
            </a:solidFill>
            <a:prstDash val="solid"/>
          </a:ln>
        </p:spPr>
      </p:sp>
      <p:sp>
        <p:nvSpPr>
          <p:cNvPr id="18" name="Text 16"/>
          <p:cNvSpPr/>
          <p:nvPr/>
        </p:nvSpPr>
        <p:spPr>
          <a:xfrm>
            <a:off x="8238744" y="2121408"/>
            <a:ext cx="178308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Insufficient</a:t>
            </a:r>
            <a:endParaRPr lang="en-US" sz="1250" dirty="0"/>
          </a:p>
        </p:txBody>
      </p:sp>
      <p:sp>
        <p:nvSpPr>
          <p:cNvPr id="19" name="Text 17"/>
          <p:cNvSpPr/>
          <p:nvPr/>
        </p:nvSpPr>
        <p:spPr>
          <a:xfrm>
            <a:off x="8238744" y="2697480"/>
            <a:ext cx="2834640" cy="548640"/>
          </a:xfrm>
          <a:prstGeom prst="rect">
            <a:avLst/>
          </a:prstGeom>
          <a:noFill/>
          <a:ln/>
        </p:spPr>
        <p:txBody>
          <a:bodyPr wrap="square" lIns="0" tIns="0" rIns="0" bIns="0" rtlCol="0" anchor="ctr"/>
          <a:lstStyle/>
          <a:p>
            <a:pPr indent="0" marL="0">
              <a:lnSpc>
                <a:spcPts val="2100"/>
              </a:lnSpc>
              <a:buNone/>
            </a:pPr>
            <a:r>
              <a:rPr lang="en-US" sz="1500" b="1" dirty="0">
                <a:solidFill>
                  <a:srgbClr val="12263F"/>
                </a:solidFill>
                <a:latin typeface="Cambria" pitchFamily="34" charset="0"/>
                <a:ea typeface="Cambria" pitchFamily="34" charset="-122"/>
                <a:cs typeface="Cambria" pitchFamily="34" charset="-120"/>
              </a:rPr>
              <a:t>The collection cannot answer it.</a:t>
            </a:r>
            <a:endParaRPr lang="en-US" sz="1500" dirty="0"/>
          </a:p>
        </p:txBody>
      </p:sp>
      <p:sp>
        <p:nvSpPr>
          <p:cNvPr id="20" name="Text 18"/>
          <p:cNvSpPr/>
          <p:nvPr/>
        </p:nvSpPr>
        <p:spPr>
          <a:xfrm>
            <a:off x="8238744" y="3310128"/>
            <a:ext cx="2880360" cy="1371600"/>
          </a:xfrm>
          <a:prstGeom prst="rect">
            <a:avLst/>
          </a:prstGeom>
          <a:noFill/>
          <a:ln/>
        </p:spPr>
        <p:txBody>
          <a:bodyPr wrap="square" lIns="0" tIns="0" rIns="0" bIns="0" rtlCol="0" anchor="ctr"/>
          <a:lstStyle/>
          <a:p>
            <a:pPr indent="0" marL="0">
              <a:lnSpc>
                <a:spcPts val="1900"/>
              </a:lnSpc>
              <a:buNone/>
            </a:pPr>
            <a:r>
              <a:rPr lang="en-US" sz="1300" dirty="0">
                <a:solidFill>
                  <a:srgbClr val="5D6B7A"/>
                </a:solidFill>
                <a:latin typeface="Calibri" pitchFamily="34" charset="0"/>
                <a:ea typeface="Calibri" pitchFamily="34" charset="-122"/>
                <a:cs typeface="Calibri" pitchFamily="34" charset="-120"/>
              </a:rPr>
              <a:t>A refusal, composed from retrieval metadata by code — naming what was searched, and what was not found.</a:t>
            </a:r>
            <a:endParaRPr lang="en-US" sz="1300" dirty="0"/>
          </a:p>
        </p:txBody>
      </p:sp>
      <p:sp>
        <p:nvSpPr>
          <p:cNvPr id="21" name="Text 19"/>
          <p:cNvSpPr/>
          <p:nvPr/>
        </p:nvSpPr>
        <p:spPr>
          <a:xfrm>
            <a:off x="594360" y="5166360"/>
            <a:ext cx="10881360" cy="457200"/>
          </a:xfrm>
          <a:prstGeom prst="rect">
            <a:avLst/>
          </a:prstGeom>
          <a:noFill/>
          <a:ln/>
        </p:spPr>
        <p:txBody>
          <a:bodyPr wrap="square" lIns="0" tIns="0" rIns="0" bIns="0" rtlCol="0" anchor="ctr"/>
          <a:lstStyle/>
          <a:p>
            <a:pPr indent="0" marL="0">
              <a:buNone/>
            </a:pPr>
            <a:r>
              <a:rPr lang="en-US" sz="1400" i="1" dirty="0">
                <a:solidFill>
                  <a:srgbClr val="2E5E7E"/>
                </a:solidFill>
                <a:latin typeface="Calibri" pitchFamily="34" charset="0"/>
                <a:ea typeface="Calibri" pitchFamily="34" charset="-122"/>
                <a:cs typeface="Calibri" pitchFamily="34" charset="-120"/>
              </a:rPr>
              <a:t>The refusal text is written by the program, not by the language model — so it cannot be talked out of it.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DEMONSTRATION 1</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A grounded answer</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9</a:t>
            </a:r>
            <a:endParaRPr lang="en-US" sz="1000" dirty="0"/>
          </a:p>
        </p:txBody>
      </p:sp>
      <p:sp>
        <p:nvSpPr>
          <p:cNvPr id="6" name="Text 4"/>
          <p:cNvSpPr/>
          <p:nvPr/>
        </p:nvSpPr>
        <p:spPr>
          <a:xfrm>
            <a:off x="594360" y="1645920"/>
            <a:ext cx="5486400" cy="777240"/>
          </a:xfrm>
          <a:prstGeom prst="rect">
            <a:avLst/>
          </a:prstGeom>
          <a:noFill/>
          <a:ln/>
        </p:spPr>
        <p:txBody>
          <a:bodyPr wrap="square" lIns="0" tIns="0" rIns="0" bIns="0" rtlCol="0" anchor="ctr"/>
          <a:lstStyle/>
          <a:p>
            <a:pPr indent="0" marL="0">
              <a:lnSpc>
                <a:spcPts val="2200"/>
              </a:lnSpc>
              <a:buNone/>
            </a:pPr>
            <a:r>
              <a:rPr lang="en-US" sz="1500" i="1" dirty="0">
                <a:solidFill>
                  <a:srgbClr val="2E5E7E"/>
                </a:solidFill>
                <a:latin typeface="Cambria" pitchFamily="34" charset="0"/>
                <a:ea typeface="Cambria" pitchFamily="34" charset="-122"/>
                <a:cs typeface="Cambria" pitchFamily="34" charset="-120"/>
              </a:rPr>
              <a:t>“What were the main causes of the Imar Bank scandal in Turkey according to the thesis?”</a:t>
            </a:r>
            <a:endParaRPr lang="en-US" sz="1500" dirty="0"/>
          </a:p>
        </p:txBody>
      </p:sp>
      <p:sp>
        <p:nvSpPr>
          <p:cNvPr id="7" name="Shape 5"/>
          <p:cNvSpPr/>
          <p:nvPr/>
        </p:nvSpPr>
        <p:spPr>
          <a:xfrm>
            <a:off x="594360" y="2606040"/>
            <a:ext cx="420624" cy="420624"/>
          </a:xfrm>
          <a:prstGeom prst="ellipse">
            <a:avLst/>
          </a:prstGeom>
          <a:solidFill>
            <a:srgbClr val="2E5E7E"/>
          </a:solidFill>
          <a:ln w="12700">
            <a:solidFill>
              <a:srgbClr val="2E5E7E"/>
            </a:solidFill>
            <a:prstDash val="solid"/>
          </a:ln>
        </p:spPr>
      </p:sp>
      <p:sp>
        <p:nvSpPr>
          <p:cNvPr id="8" name="Text 6"/>
          <p:cNvSpPr/>
          <p:nvPr/>
        </p:nvSpPr>
        <p:spPr>
          <a:xfrm>
            <a:off x="594360" y="26060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161288" y="2587752"/>
            <a:ext cx="4846320" cy="274320"/>
          </a:xfrm>
          <a:prstGeom prst="rect">
            <a:avLst/>
          </a:prstGeom>
          <a:noFill/>
          <a:ln/>
        </p:spPr>
        <p:txBody>
          <a:bodyPr wrap="square" lIns="0" tIns="0" rIns="0" bIns="0" rtlCol="0" anchor="ctr"/>
          <a:lstStyle/>
          <a:p>
            <a:pPr indent="0" marL="0">
              <a:buNone/>
            </a:pPr>
            <a:r>
              <a:rPr lang="en-US" sz="1450" b="1" dirty="0">
                <a:solidFill>
                  <a:srgbClr val="12263F"/>
                </a:solidFill>
                <a:latin typeface="Cambria" pitchFamily="34" charset="0"/>
                <a:ea typeface="Cambria" pitchFamily="34" charset="-122"/>
                <a:cs typeface="Cambria" pitchFamily="34" charset="-120"/>
              </a:rPr>
              <a:t>Markers, not footnote codes</a:t>
            </a:r>
            <a:endParaRPr lang="en-US" sz="1450" dirty="0"/>
          </a:p>
        </p:txBody>
      </p:sp>
      <p:sp>
        <p:nvSpPr>
          <p:cNvPr id="10" name="Text 8"/>
          <p:cNvSpPr/>
          <p:nvPr/>
        </p:nvSpPr>
        <p:spPr>
          <a:xfrm>
            <a:off x="1161288" y="2880360"/>
            <a:ext cx="4937760" cy="502920"/>
          </a:xfrm>
          <a:prstGeom prst="rect">
            <a:avLst/>
          </a:prstGeom>
          <a:noFill/>
          <a:ln/>
        </p:spPr>
        <p:txBody>
          <a:bodyPr wrap="square" lIns="0" tIns="0" rIns="0" bIns="0" rtlCol="0" anchor="ctr"/>
          <a:lstStyle/>
          <a:p>
            <a:pPr indent="0" marL="0">
              <a:lnSpc>
                <a:spcPts val="1700"/>
              </a:lnSpc>
              <a:buNone/>
            </a:pPr>
            <a:r>
              <a:rPr lang="en-US" sz="1250" dirty="0">
                <a:solidFill>
                  <a:srgbClr val="5D6B7A"/>
                </a:solidFill>
                <a:latin typeface="Calibri" pitchFamily="34" charset="0"/>
                <a:ea typeface="Calibri" pitchFamily="34" charset="-122"/>
                <a:cs typeface="Calibri" pitchFamily="34" charset="-120"/>
              </a:rPr>
              <a:t>Each superscript points to one retrieved passage.</a:t>
            </a:r>
            <a:endParaRPr lang="en-US" sz="1250" dirty="0"/>
          </a:p>
        </p:txBody>
      </p:sp>
      <p:sp>
        <p:nvSpPr>
          <p:cNvPr id="11" name="Shape 9"/>
          <p:cNvSpPr/>
          <p:nvPr/>
        </p:nvSpPr>
        <p:spPr>
          <a:xfrm>
            <a:off x="594360" y="3474720"/>
            <a:ext cx="420624" cy="420624"/>
          </a:xfrm>
          <a:prstGeom prst="ellipse">
            <a:avLst/>
          </a:prstGeom>
          <a:solidFill>
            <a:srgbClr val="2E5E7E"/>
          </a:solidFill>
          <a:ln w="12700">
            <a:solidFill>
              <a:srgbClr val="2E5E7E"/>
            </a:solidFill>
            <a:prstDash val="solid"/>
          </a:ln>
        </p:spPr>
      </p:sp>
      <p:sp>
        <p:nvSpPr>
          <p:cNvPr id="12" name="Text 10"/>
          <p:cNvSpPr/>
          <p:nvPr/>
        </p:nvSpPr>
        <p:spPr>
          <a:xfrm>
            <a:off x="594360" y="34747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161288" y="3456432"/>
            <a:ext cx="4846320" cy="274320"/>
          </a:xfrm>
          <a:prstGeom prst="rect">
            <a:avLst/>
          </a:prstGeom>
          <a:noFill/>
          <a:ln/>
        </p:spPr>
        <p:txBody>
          <a:bodyPr wrap="square" lIns="0" tIns="0" rIns="0" bIns="0" rtlCol="0" anchor="ctr"/>
          <a:lstStyle/>
          <a:p>
            <a:pPr indent="0" marL="0">
              <a:buNone/>
            </a:pPr>
            <a:r>
              <a:rPr lang="en-US" sz="1450" b="1" dirty="0">
                <a:solidFill>
                  <a:srgbClr val="12263F"/>
                </a:solidFill>
                <a:latin typeface="Cambria" pitchFamily="34" charset="0"/>
                <a:ea typeface="Cambria" pitchFamily="34" charset="-122"/>
                <a:cs typeface="Cambria" pitchFamily="34" charset="-120"/>
              </a:rPr>
              <a:t>Sources resolve to pages</a:t>
            </a:r>
            <a:endParaRPr lang="en-US" sz="1450" dirty="0"/>
          </a:p>
        </p:txBody>
      </p:sp>
      <p:sp>
        <p:nvSpPr>
          <p:cNvPr id="14" name="Text 12"/>
          <p:cNvSpPr/>
          <p:nvPr/>
        </p:nvSpPr>
        <p:spPr>
          <a:xfrm>
            <a:off x="1161288" y="3749040"/>
            <a:ext cx="4937760" cy="502920"/>
          </a:xfrm>
          <a:prstGeom prst="rect">
            <a:avLst/>
          </a:prstGeom>
          <a:noFill/>
          <a:ln/>
        </p:spPr>
        <p:txBody>
          <a:bodyPr wrap="square" lIns="0" tIns="0" rIns="0" bIns="0" rtlCol="0" anchor="ctr"/>
          <a:lstStyle/>
          <a:p>
            <a:pPr indent="0" marL="0">
              <a:lnSpc>
                <a:spcPts val="1700"/>
              </a:lnSpc>
              <a:buNone/>
            </a:pPr>
            <a:r>
              <a:rPr lang="en-US" sz="1250" dirty="0">
                <a:solidFill>
                  <a:srgbClr val="5D6B7A"/>
                </a:solidFill>
                <a:latin typeface="Calibri" pitchFamily="34" charset="0"/>
                <a:ea typeface="Calibri" pitchFamily="34" charset="-122"/>
                <a:cs typeface="Calibri" pitchFamily="34" charset="-120"/>
              </a:rPr>
              <a:t>pp. 88–89, 89–91, 86–88 — read from the extraction, not generated.</a:t>
            </a:r>
            <a:endParaRPr lang="en-US" sz="1250" dirty="0"/>
          </a:p>
        </p:txBody>
      </p:sp>
      <p:sp>
        <p:nvSpPr>
          <p:cNvPr id="15" name="Shape 13"/>
          <p:cNvSpPr/>
          <p:nvPr/>
        </p:nvSpPr>
        <p:spPr>
          <a:xfrm>
            <a:off x="594360" y="4343400"/>
            <a:ext cx="420624" cy="420624"/>
          </a:xfrm>
          <a:prstGeom prst="ellipse">
            <a:avLst/>
          </a:prstGeom>
          <a:solidFill>
            <a:srgbClr val="2E5E7E"/>
          </a:solidFill>
          <a:ln w="12700">
            <a:solidFill>
              <a:srgbClr val="2E5E7E"/>
            </a:solidFill>
            <a:prstDash val="solid"/>
          </a:ln>
        </p:spPr>
      </p:sp>
      <p:sp>
        <p:nvSpPr>
          <p:cNvPr id="16" name="Text 14"/>
          <p:cNvSpPr/>
          <p:nvPr/>
        </p:nvSpPr>
        <p:spPr>
          <a:xfrm>
            <a:off x="594360" y="43434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161288" y="4325112"/>
            <a:ext cx="4846320" cy="274320"/>
          </a:xfrm>
          <a:prstGeom prst="rect">
            <a:avLst/>
          </a:prstGeom>
          <a:noFill/>
          <a:ln/>
        </p:spPr>
        <p:txBody>
          <a:bodyPr wrap="square" lIns="0" tIns="0" rIns="0" bIns="0" rtlCol="0" anchor="ctr"/>
          <a:lstStyle/>
          <a:p>
            <a:pPr indent="0" marL="0">
              <a:buNone/>
            </a:pPr>
            <a:r>
              <a:rPr lang="en-US" sz="1450" b="1" dirty="0">
                <a:solidFill>
                  <a:srgbClr val="12263F"/>
                </a:solidFill>
                <a:latin typeface="Cambria" pitchFamily="34" charset="0"/>
                <a:ea typeface="Cambria" pitchFamily="34" charset="-122"/>
                <a:cs typeface="Cambria" pitchFamily="34" charset="-120"/>
              </a:rPr>
              <a:t>Limits are stated</a:t>
            </a:r>
            <a:endParaRPr lang="en-US" sz="1450" dirty="0"/>
          </a:p>
        </p:txBody>
      </p:sp>
      <p:sp>
        <p:nvSpPr>
          <p:cNvPr id="18" name="Text 16"/>
          <p:cNvSpPr/>
          <p:nvPr/>
        </p:nvSpPr>
        <p:spPr>
          <a:xfrm>
            <a:off x="1161288" y="4617720"/>
            <a:ext cx="4937760" cy="502920"/>
          </a:xfrm>
          <a:prstGeom prst="rect">
            <a:avLst/>
          </a:prstGeom>
          <a:noFill/>
          <a:ln/>
        </p:spPr>
        <p:txBody>
          <a:bodyPr wrap="square" lIns="0" tIns="0" rIns="0" bIns="0" rtlCol="0" anchor="ctr"/>
          <a:lstStyle/>
          <a:p>
            <a:pPr indent="0" marL="0">
              <a:lnSpc>
                <a:spcPts val="1700"/>
              </a:lnSpc>
              <a:buNone/>
            </a:pPr>
            <a:r>
              <a:rPr lang="en-US" sz="1250" dirty="0">
                <a:solidFill>
                  <a:srgbClr val="5D6B7A"/>
                </a:solidFill>
                <a:latin typeface="Calibri" pitchFamily="34" charset="0"/>
                <a:ea typeface="Calibri" pitchFamily="34" charset="-122"/>
                <a:cs typeface="Calibri" pitchFamily="34" charset="-120"/>
              </a:rPr>
              <a:t>The answer says what the retrieved evidence does not establish.</a:t>
            </a:r>
            <a:endParaRPr lang="en-US" sz="1250" dirty="0"/>
          </a:p>
        </p:txBody>
      </p:sp>
      <p:sp>
        <p:nvSpPr>
          <p:cNvPr id="19" name="Shape 17"/>
          <p:cNvSpPr/>
          <p:nvPr/>
        </p:nvSpPr>
        <p:spPr>
          <a:xfrm>
            <a:off x="594360" y="5212080"/>
            <a:ext cx="420624" cy="420624"/>
          </a:xfrm>
          <a:prstGeom prst="ellipse">
            <a:avLst/>
          </a:prstGeom>
          <a:solidFill>
            <a:srgbClr val="2E5E7E"/>
          </a:solidFill>
          <a:ln w="12700">
            <a:solidFill>
              <a:srgbClr val="2E5E7E"/>
            </a:solidFill>
            <a:prstDash val="solid"/>
          </a:ln>
        </p:spPr>
      </p:sp>
      <p:sp>
        <p:nvSpPr>
          <p:cNvPr id="20" name="Text 18"/>
          <p:cNvSpPr/>
          <p:nvPr/>
        </p:nvSpPr>
        <p:spPr>
          <a:xfrm>
            <a:off x="594360" y="52120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161288" y="5193792"/>
            <a:ext cx="4846320" cy="274320"/>
          </a:xfrm>
          <a:prstGeom prst="rect">
            <a:avLst/>
          </a:prstGeom>
          <a:noFill/>
          <a:ln/>
        </p:spPr>
        <p:txBody>
          <a:bodyPr wrap="square" lIns="0" tIns="0" rIns="0" bIns="0" rtlCol="0" anchor="ctr"/>
          <a:lstStyle/>
          <a:p>
            <a:pPr indent="0" marL="0">
              <a:buNone/>
            </a:pPr>
            <a:r>
              <a:rPr lang="en-US" sz="1450" b="1" dirty="0">
                <a:solidFill>
                  <a:srgbClr val="12263F"/>
                </a:solidFill>
                <a:latin typeface="Cambria" pitchFamily="34" charset="0"/>
                <a:ea typeface="Cambria" pitchFamily="34" charset="-122"/>
                <a:cs typeface="Cambria" pitchFamily="34" charset="-120"/>
              </a:rPr>
              <a:t>Gaps are named</a:t>
            </a:r>
            <a:endParaRPr lang="en-US" sz="1450" dirty="0"/>
          </a:p>
        </p:txBody>
      </p:sp>
      <p:sp>
        <p:nvSpPr>
          <p:cNvPr id="22" name="Text 20"/>
          <p:cNvSpPr/>
          <p:nvPr/>
        </p:nvSpPr>
        <p:spPr>
          <a:xfrm>
            <a:off x="1161288" y="5486400"/>
            <a:ext cx="4937760" cy="502920"/>
          </a:xfrm>
          <a:prstGeom prst="rect">
            <a:avLst/>
          </a:prstGeom>
          <a:noFill/>
          <a:ln/>
        </p:spPr>
        <p:txBody>
          <a:bodyPr wrap="square" lIns="0" tIns="0" rIns="0" bIns="0" rtlCol="0" anchor="ctr"/>
          <a:lstStyle/>
          <a:p>
            <a:pPr indent="0" marL="0">
              <a:lnSpc>
                <a:spcPts val="1700"/>
              </a:lnSpc>
              <a:buNone/>
            </a:pPr>
            <a:r>
              <a:rPr lang="en-US" sz="1250" dirty="0">
                <a:solidFill>
                  <a:srgbClr val="5D6B7A"/>
                </a:solidFill>
                <a:latin typeface="Calibri" pitchFamily="34" charset="0"/>
                <a:ea typeface="Calibri" pitchFamily="34" charset="-122"/>
                <a:cs typeface="Calibri" pitchFamily="34" charset="-120"/>
              </a:rPr>
              <a:t>“Not covered by the collection” is part of the answer, not a disclaimer.</a:t>
            </a:r>
            <a:endParaRPr lang="en-US" sz="1250" dirty="0"/>
          </a:p>
        </p:txBody>
      </p:sp>
      <p:sp>
        <p:nvSpPr>
          <p:cNvPr id="23" name="Shape 21"/>
          <p:cNvSpPr/>
          <p:nvPr/>
        </p:nvSpPr>
        <p:spPr>
          <a:xfrm>
            <a:off x="6656832" y="1490472"/>
            <a:ext cx="4882896" cy="4654296"/>
          </a:xfrm>
          <a:prstGeom prst="roundRect">
            <a:avLst>
              <a:gd name="adj" fmla="val 1179"/>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pic>
        <p:nvPicPr>
          <p:cNvPr id="24" name="Image 0" descr="/tmp/claude-0/-home-user-source-grounded-rag/68b384e6-984f-5261-98d9-fb926fa4c5e2/scratchpad/shots/answer_a.png">    </p:cNvPr>
          <p:cNvPicPr>
            <a:picLocks noChangeAspect="1"/>
          </p:cNvPicPr>
          <p:nvPr/>
        </p:nvPicPr>
        <p:blipFill>
          <a:blip r:embed="rId1"/>
          <a:srcRect l="0" r="0" t="0" b="0"/>
          <a:stretch/>
        </p:blipFill>
        <p:spPr>
          <a:xfrm>
            <a:off x="6766560" y="1600200"/>
            <a:ext cx="4663440" cy="44348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DEMONSTRATION 1</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Every marker resolves to a citation</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1307592" y="1719072"/>
            <a:ext cx="7626096" cy="3291840"/>
          </a:xfrm>
          <a:prstGeom prst="roundRect">
            <a:avLst>
              <a:gd name="adj" fmla="val 1667"/>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pic>
        <p:nvPicPr>
          <p:cNvPr id="7" name="Image 0" descr="/tmp/claude-0/-home-user-source-grounded-rag/68b384e6-984f-5261-98d9-fb926fa4c5e2/scratchpad/shots/citations.png">    </p:cNvPr>
          <p:cNvPicPr>
            <a:picLocks noChangeAspect="1"/>
          </p:cNvPicPr>
          <p:nvPr/>
        </p:nvPicPr>
        <p:blipFill>
          <a:blip r:embed="rId1"/>
          <a:srcRect l="0" r="0" t="0" b="0"/>
          <a:stretch/>
        </p:blipFill>
        <p:spPr>
          <a:xfrm>
            <a:off x="1417320" y="1828800"/>
            <a:ext cx="7406640" cy="3072384"/>
          </a:xfrm>
          <a:prstGeom prst="rect">
            <a:avLst/>
          </a:prstGeom>
        </p:spPr>
      </p:pic>
      <p:sp>
        <p:nvSpPr>
          <p:cNvPr id="8" name="Text 5"/>
          <p:cNvSpPr/>
          <p:nvPr/>
        </p:nvSpPr>
        <p:spPr>
          <a:xfrm>
            <a:off x="1417320" y="5166360"/>
            <a:ext cx="9418320" cy="731520"/>
          </a:xfrm>
          <a:prstGeom prst="rect">
            <a:avLst/>
          </a:prstGeom>
          <a:noFill/>
          <a:ln/>
        </p:spPr>
        <p:txBody>
          <a:bodyPr wrap="square" lIns="0" tIns="0" rIns="0" bIns="0" rtlCol="0" anchor="ctr"/>
          <a:lstStyle/>
          <a:p>
            <a:pPr indent="0" marL="0">
              <a:lnSpc>
                <a:spcPts val="2100"/>
              </a:lnSpc>
              <a:buNone/>
            </a:pPr>
            <a:r>
              <a:rPr lang="en-US" sz="1450" dirty="0">
                <a:solidFill>
                  <a:srgbClr val="1A2733"/>
                </a:solidFill>
                <a:latin typeface="Calibri" pitchFamily="34" charset="0"/>
                <a:ea typeface="Calibri" pitchFamily="34" charset="-122"/>
                <a:cs typeface="Calibri" pitchFamily="34" charset="-120"/>
              </a:rPr>
              <a:t>Chapter, section and printed page for each passage the answer used — one click away, so the main view stays readable while the full apparatus stays available.</a:t>
            </a:r>
            <a:endParaRPr lang="en-US" sz="1450" dirty="0"/>
          </a:p>
        </p:txBody>
      </p:sp>
      <p:sp>
        <p:nvSpPr>
          <p:cNvPr id="9" name="Text 6"/>
          <p:cNvSpPr/>
          <p:nvPr/>
        </p:nvSpPr>
        <p:spPr>
          <a:xfrm>
            <a:off x="1417320" y="5806440"/>
            <a:ext cx="9418320" cy="365760"/>
          </a:xfrm>
          <a:prstGeom prst="rect">
            <a:avLst/>
          </a:prstGeom>
          <a:noFill/>
          <a:ln/>
        </p:spPr>
        <p:txBody>
          <a:bodyPr wrap="square" lIns="0" tIns="0" rIns="0" bIns="0" rtlCol="0" anchor="ctr"/>
          <a:lstStyle/>
          <a:p>
            <a:pPr indent="0" marL="0">
              <a:buNone/>
            </a:pPr>
            <a:r>
              <a:rPr lang="en-US" sz="1250" i="1" dirty="0">
                <a:solidFill>
                  <a:srgbClr val="5D6B7A"/>
                </a:solidFill>
                <a:latin typeface="Calibri" pitchFamily="34" charset="0"/>
                <a:ea typeface="Calibri" pitchFamily="34" charset="-122"/>
                <a:cs typeface="Calibri" pitchFamily="34" charset="-120"/>
              </a:rPr>
              <a:t>These are the printed page numbers of the thesis — not PDF page indices.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DEMONSTRATION 2</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The refusal</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11</a:t>
            </a:r>
            <a:endParaRPr lang="en-US" sz="1000" dirty="0"/>
          </a:p>
        </p:txBody>
      </p:sp>
      <p:sp>
        <p:nvSpPr>
          <p:cNvPr id="6" name="Text 4"/>
          <p:cNvSpPr/>
          <p:nvPr/>
        </p:nvSpPr>
        <p:spPr>
          <a:xfrm>
            <a:off x="594360" y="1691640"/>
            <a:ext cx="5029200" cy="1188720"/>
          </a:xfrm>
          <a:prstGeom prst="rect">
            <a:avLst/>
          </a:prstGeom>
          <a:noFill/>
          <a:ln/>
        </p:spPr>
        <p:txBody>
          <a:bodyPr wrap="square" lIns="0" tIns="0" rIns="0" bIns="0" rtlCol="0" anchor="ctr"/>
          <a:lstStyle/>
          <a:p>
            <a:pPr indent="0" marL="0">
              <a:lnSpc>
                <a:spcPts val="2100"/>
              </a:lnSpc>
              <a:buNone/>
            </a:pPr>
            <a:r>
              <a:rPr lang="en-US" sz="1450" i="1" dirty="0">
                <a:solidFill>
                  <a:srgbClr val="2E5E7E"/>
                </a:solidFill>
                <a:latin typeface="Cambria" pitchFamily="34" charset="0"/>
                <a:ea typeface="Cambria" pitchFamily="34" charset="-122"/>
                <a:cs typeface="Cambria" pitchFamily="34" charset="-120"/>
              </a:rPr>
              <a:t>“Does the thesis take a position on whether cryptocurrency-based disclosure mechanisms could improve financial transparency?”</a:t>
            </a:r>
            <a:endParaRPr lang="en-US" sz="1450" dirty="0"/>
          </a:p>
        </p:txBody>
      </p:sp>
      <p:sp>
        <p:nvSpPr>
          <p:cNvPr id="7" name="Shape 5"/>
          <p:cNvSpPr/>
          <p:nvPr/>
        </p:nvSpPr>
        <p:spPr>
          <a:xfrm>
            <a:off x="640080" y="3136392"/>
            <a:ext cx="118872" cy="118872"/>
          </a:xfrm>
          <a:prstGeom prst="ellipse">
            <a:avLst/>
          </a:prstGeom>
          <a:solidFill>
            <a:srgbClr val="D08C1E"/>
          </a:solidFill>
          <a:ln w="12700">
            <a:solidFill>
              <a:srgbClr val="333333"/>
            </a:solidFill>
            <a:prstDash val="solid"/>
          </a:ln>
        </p:spPr>
      </p:sp>
      <p:sp>
        <p:nvSpPr>
          <p:cNvPr id="8" name="Text 6"/>
          <p:cNvSpPr/>
          <p:nvPr/>
        </p:nvSpPr>
        <p:spPr>
          <a:xfrm>
            <a:off x="941832" y="3063240"/>
            <a:ext cx="4754880" cy="640080"/>
          </a:xfrm>
          <a:prstGeom prst="rect">
            <a:avLst/>
          </a:prstGeom>
          <a:noFill/>
          <a:ln/>
        </p:spPr>
        <p:txBody>
          <a:bodyPr wrap="square" lIns="0" tIns="0" rIns="0" bIns="0" rtlCol="0" anchor="ctr"/>
          <a:lstStyle/>
          <a:p>
            <a:pPr indent="0" marL="0">
              <a:lnSpc>
                <a:spcPts val="1900"/>
              </a:lnSpc>
              <a:buNone/>
            </a:pPr>
            <a:r>
              <a:rPr lang="en-US" sz="1350" dirty="0">
                <a:solidFill>
                  <a:srgbClr val="1A2733"/>
                </a:solidFill>
                <a:latin typeface="Calibri" pitchFamily="34" charset="0"/>
                <a:ea typeface="Calibri" pitchFamily="34" charset="-122"/>
                <a:cs typeface="Calibri" pitchFamily="34" charset="-120"/>
              </a:rPr>
              <a:t>The thesis was written in 2014. It has nothing to say about this.</a:t>
            </a:r>
            <a:endParaRPr lang="en-US" sz="1350" dirty="0"/>
          </a:p>
        </p:txBody>
      </p:sp>
      <p:sp>
        <p:nvSpPr>
          <p:cNvPr id="9" name="Shape 7"/>
          <p:cNvSpPr/>
          <p:nvPr/>
        </p:nvSpPr>
        <p:spPr>
          <a:xfrm>
            <a:off x="640080" y="3886200"/>
            <a:ext cx="118872" cy="118872"/>
          </a:xfrm>
          <a:prstGeom prst="ellipse">
            <a:avLst/>
          </a:prstGeom>
          <a:solidFill>
            <a:srgbClr val="D08C1E"/>
          </a:solidFill>
          <a:ln w="12700">
            <a:solidFill>
              <a:srgbClr val="333333"/>
            </a:solidFill>
            <a:prstDash val="solid"/>
          </a:ln>
        </p:spPr>
      </p:sp>
      <p:sp>
        <p:nvSpPr>
          <p:cNvPr id="10" name="Text 8"/>
          <p:cNvSpPr/>
          <p:nvPr/>
        </p:nvSpPr>
        <p:spPr>
          <a:xfrm>
            <a:off x="941832" y="3813048"/>
            <a:ext cx="4754880" cy="640080"/>
          </a:xfrm>
          <a:prstGeom prst="rect">
            <a:avLst/>
          </a:prstGeom>
          <a:noFill/>
          <a:ln/>
        </p:spPr>
        <p:txBody>
          <a:bodyPr wrap="square" lIns="0" tIns="0" rIns="0" bIns="0" rtlCol="0" anchor="ctr"/>
          <a:lstStyle/>
          <a:p>
            <a:pPr indent="0" marL="0">
              <a:lnSpc>
                <a:spcPts val="1900"/>
              </a:lnSpc>
              <a:buNone/>
            </a:pPr>
            <a:r>
              <a:rPr lang="en-US" sz="1350" dirty="0">
                <a:solidFill>
                  <a:srgbClr val="1A2733"/>
                </a:solidFill>
                <a:latin typeface="Calibri" pitchFamily="34" charset="0"/>
                <a:ea typeface="Calibri" pitchFamily="34" charset="-122"/>
                <a:cs typeface="Calibri" pitchFamily="34" charset="-120"/>
              </a:rPr>
              <a:t>A general chatbot would answer anyway — plausibly, and without a source.</a:t>
            </a:r>
            <a:endParaRPr lang="en-US" sz="1350" dirty="0"/>
          </a:p>
        </p:txBody>
      </p:sp>
      <p:sp>
        <p:nvSpPr>
          <p:cNvPr id="11" name="Shape 9"/>
          <p:cNvSpPr/>
          <p:nvPr/>
        </p:nvSpPr>
        <p:spPr>
          <a:xfrm>
            <a:off x="640080" y="4636008"/>
            <a:ext cx="118872" cy="118872"/>
          </a:xfrm>
          <a:prstGeom prst="ellipse">
            <a:avLst/>
          </a:prstGeom>
          <a:solidFill>
            <a:srgbClr val="D08C1E"/>
          </a:solidFill>
          <a:ln w="12700">
            <a:solidFill>
              <a:srgbClr val="333333"/>
            </a:solidFill>
            <a:prstDash val="solid"/>
          </a:ln>
        </p:spPr>
      </p:sp>
      <p:sp>
        <p:nvSpPr>
          <p:cNvPr id="12" name="Text 10"/>
          <p:cNvSpPr/>
          <p:nvPr/>
        </p:nvSpPr>
        <p:spPr>
          <a:xfrm>
            <a:off x="941832" y="4562856"/>
            <a:ext cx="4754880" cy="640080"/>
          </a:xfrm>
          <a:prstGeom prst="rect">
            <a:avLst/>
          </a:prstGeom>
          <a:noFill/>
          <a:ln/>
        </p:spPr>
        <p:txBody>
          <a:bodyPr wrap="square" lIns="0" tIns="0" rIns="0" bIns="0" rtlCol="0" anchor="ctr"/>
          <a:lstStyle/>
          <a:p>
            <a:pPr indent="0" marL="0">
              <a:lnSpc>
                <a:spcPts val="1900"/>
              </a:lnSpc>
              <a:buNone/>
            </a:pPr>
            <a:r>
              <a:rPr lang="en-US" sz="1350" dirty="0">
                <a:solidFill>
                  <a:srgbClr val="1A2733"/>
                </a:solidFill>
                <a:latin typeface="Calibri" pitchFamily="34" charset="0"/>
                <a:ea typeface="Calibri" pitchFamily="34" charset="-122"/>
                <a:cs typeface="Calibri" pitchFamily="34" charset="-120"/>
              </a:rPr>
              <a:t>The notice names what retrieval actually searched, so the refusal is inspectable.</a:t>
            </a:r>
            <a:endParaRPr lang="en-US" sz="1350" dirty="0"/>
          </a:p>
        </p:txBody>
      </p:sp>
      <p:sp>
        <p:nvSpPr>
          <p:cNvPr id="13" name="Shape 11"/>
          <p:cNvSpPr/>
          <p:nvPr/>
        </p:nvSpPr>
        <p:spPr>
          <a:xfrm>
            <a:off x="640080" y="5385816"/>
            <a:ext cx="118872" cy="118872"/>
          </a:xfrm>
          <a:prstGeom prst="ellipse">
            <a:avLst/>
          </a:prstGeom>
          <a:solidFill>
            <a:srgbClr val="D08C1E"/>
          </a:solidFill>
          <a:ln w="12700">
            <a:solidFill>
              <a:srgbClr val="333333"/>
            </a:solidFill>
            <a:prstDash val="solid"/>
          </a:ln>
        </p:spPr>
      </p:sp>
      <p:sp>
        <p:nvSpPr>
          <p:cNvPr id="14" name="Text 12"/>
          <p:cNvSpPr/>
          <p:nvPr/>
        </p:nvSpPr>
        <p:spPr>
          <a:xfrm>
            <a:off x="941832" y="5312664"/>
            <a:ext cx="4754880" cy="640080"/>
          </a:xfrm>
          <a:prstGeom prst="rect">
            <a:avLst/>
          </a:prstGeom>
          <a:noFill/>
          <a:ln/>
        </p:spPr>
        <p:txBody>
          <a:bodyPr wrap="square" lIns="0" tIns="0" rIns="0" bIns="0" rtlCol="0" anchor="ctr"/>
          <a:lstStyle/>
          <a:p>
            <a:pPr indent="0" marL="0">
              <a:lnSpc>
                <a:spcPts val="1900"/>
              </a:lnSpc>
              <a:buNone/>
            </a:pPr>
            <a:r>
              <a:rPr lang="en-US" sz="1350" dirty="0">
                <a:solidFill>
                  <a:srgbClr val="1A2733"/>
                </a:solidFill>
                <a:latin typeface="Calibri" pitchFamily="34" charset="0"/>
                <a:ea typeface="Calibri" pitchFamily="34" charset="-122"/>
                <a:cs typeface="Calibri" pitchFamily="34" charset="-120"/>
              </a:rPr>
              <a:t>Presented calmly, not as an error: yellow, not red. This is the system working.</a:t>
            </a:r>
            <a:endParaRPr lang="en-US" sz="1350" dirty="0"/>
          </a:p>
        </p:txBody>
      </p:sp>
      <p:sp>
        <p:nvSpPr>
          <p:cNvPr id="15" name="Shape 13"/>
          <p:cNvSpPr/>
          <p:nvPr/>
        </p:nvSpPr>
        <p:spPr>
          <a:xfrm>
            <a:off x="6108192" y="2084832"/>
            <a:ext cx="5477256" cy="3255264"/>
          </a:xfrm>
          <a:prstGeom prst="roundRect">
            <a:avLst>
              <a:gd name="adj" fmla="val 1685"/>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pic>
        <p:nvPicPr>
          <p:cNvPr id="16" name="Image 0" descr="/tmp/claude-0/-home-user-source-grounded-rag/68b384e6-984f-5261-98d9-fb926fa4c5e2/scratchpad/shots/refusal_a.png">    </p:cNvPr>
          <p:cNvPicPr>
            <a:picLocks noChangeAspect="1"/>
          </p:cNvPicPr>
          <p:nvPr/>
        </p:nvPicPr>
        <p:blipFill>
          <a:blip r:embed="rId1"/>
          <a:srcRect l="0" r="0" t="0" b="0"/>
          <a:stretch/>
        </p:blipFill>
        <p:spPr>
          <a:xfrm>
            <a:off x="6217920" y="2194560"/>
            <a:ext cx="5257800" cy="30358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DEMONSTRATION 3</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Where the assistant is inferring, it says so</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12</a:t>
            </a:r>
            <a:endParaRPr lang="en-US" sz="1000" dirty="0"/>
          </a:p>
        </p:txBody>
      </p:sp>
      <p:sp>
        <p:nvSpPr>
          <p:cNvPr id="6" name="Text 4"/>
          <p:cNvSpPr/>
          <p:nvPr/>
        </p:nvSpPr>
        <p:spPr>
          <a:xfrm>
            <a:off x="594360" y="1664208"/>
            <a:ext cx="10881360" cy="457200"/>
          </a:xfrm>
          <a:prstGeom prst="rect">
            <a:avLst/>
          </a:prstGeom>
          <a:noFill/>
          <a:ln/>
        </p:spPr>
        <p:txBody>
          <a:bodyPr wrap="square" lIns="0" tIns="0" rIns="0" bIns="0" rtlCol="0" anchor="ctr"/>
          <a:lstStyle/>
          <a:p>
            <a:pPr indent="0" marL="0">
              <a:buNone/>
            </a:pPr>
            <a:r>
              <a:rPr lang="en-US" sz="1500" i="1" dirty="0">
                <a:solidFill>
                  <a:srgbClr val="2E5E7E"/>
                </a:solidFill>
                <a:latin typeface="Cambria" pitchFamily="34" charset="0"/>
                <a:ea typeface="Cambria" pitchFamily="34" charset="-122"/>
                <a:cs typeface="Cambria" pitchFamily="34" charset="-120"/>
              </a:rPr>
              <a:t>“How does the thesis compare the Anglo-American and German models of corporate governance in terms of transparency?”</a:t>
            </a:r>
            <a:endParaRPr lang="en-US" sz="1500" dirty="0"/>
          </a:p>
        </p:txBody>
      </p:sp>
      <p:sp>
        <p:nvSpPr>
          <p:cNvPr id="7" name="Shape 5"/>
          <p:cNvSpPr/>
          <p:nvPr/>
        </p:nvSpPr>
        <p:spPr>
          <a:xfrm>
            <a:off x="758952" y="2267712"/>
            <a:ext cx="7397496" cy="2651760"/>
          </a:xfrm>
          <a:prstGeom prst="roundRect">
            <a:avLst>
              <a:gd name="adj" fmla="val 2069"/>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pic>
        <p:nvPicPr>
          <p:cNvPr id="8" name="Image 0" descr="/tmp/claude-0/-home-user-source-grounded-rag/68b384e6-984f-5261-98d9-fb926fa4c5e2/scratchpad/shots/interpretation_callout.png">    </p:cNvPr>
          <p:cNvPicPr>
            <a:picLocks noChangeAspect="1"/>
          </p:cNvPicPr>
          <p:nvPr/>
        </p:nvPicPr>
        <p:blipFill>
          <a:blip r:embed="rId1"/>
          <a:srcRect l="0" r="0" t="0" b="0"/>
          <a:stretch/>
        </p:blipFill>
        <p:spPr>
          <a:xfrm>
            <a:off x="868680" y="2377440"/>
            <a:ext cx="7178040" cy="2432304"/>
          </a:xfrm>
          <a:prstGeom prst="rect">
            <a:avLst/>
          </a:prstGeom>
        </p:spPr>
      </p:pic>
      <p:sp>
        <p:nvSpPr>
          <p:cNvPr id="9" name="Text 6"/>
          <p:cNvSpPr/>
          <p:nvPr/>
        </p:nvSpPr>
        <p:spPr>
          <a:xfrm>
            <a:off x="8503920" y="2377440"/>
            <a:ext cx="3063240" cy="274320"/>
          </a:xfrm>
          <a:prstGeom prst="rect">
            <a:avLst/>
          </a:prstGeom>
          <a:noFill/>
          <a:ln/>
        </p:spPr>
        <p:txBody>
          <a:bodyPr wrap="square" lIns="0" tIns="0" rIns="0" bIns="0" rtlCol="0" anchor="ctr"/>
          <a:lstStyle/>
          <a:p>
            <a:pPr indent="0" marL="0">
              <a:buNone/>
            </a:pPr>
            <a:r>
              <a:rPr lang="en-US" sz="1450" b="1" dirty="0">
                <a:solidFill>
                  <a:srgbClr val="12263F"/>
                </a:solidFill>
                <a:latin typeface="Cambria" pitchFamily="34" charset="0"/>
                <a:ea typeface="Cambria" pitchFamily="34" charset="-122"/>
                <a:cs typeface="Cambria" pitchFamily="34" charset="-120"/>
              </a:rPr>
              <a:t>Separated</a:t>
            </a:r>
            <a:endParaRPr lang="en-US" sz="1450" dirty="0"/>
          </a:p>
        </p:txBody>
      </p:sp>
      <p:sp>
        <p:nvSpPr>
          <p:cNvPr id="10" name="Text 7"/>
          <p:cNvSpPr/>
          <p:nvPr/>
        </p:nvSpPr>
        <p:spPr>
          <a:xfrm>
            <a:off x="8503920" y="2670048"/>
            <a:ext cx="3063240" cy="566928"/>
          </a:xfrm>
          <a:prstGeom prst="rect">
            <a:avLst/>
          </a:prstGeom>
          <a:noFill/>
          <a:ln/>
        </p:spPr>
        <p:txBody>
          <a:bodyPr wrap="square" lIns="0" tIns="0" rIns="0" bIns="0" rtlCol="0" anchor="ctr"/>
          <a:lstStyle/>
          <a:p>
            <a:pPr indent="0" marL="0">
              <a:lnSpc>
                <a:spcPts val="1700"/>
              </a:lnSpc>
              <a:buNone/>
            </a:pPr>
            <a:r>
              <a:rPr lang="en-US" sz="1250" dirty="0">
                <a:solidFill>
                  <a:srgbClr val="5D6B7A"/>
                </a:solidFill>
                <a:latin typeface="Calibri" pitchFamily="34" charset="0"/>
                <a:ea typeface="Calibri" pitchFamily="34" charset="-122"/>
                <a:cs typeface="Calibri" pitchFamily="34" charset="-120"/>
              </a:rPr>
              <a:t>Inference is lifted out of the answer into its own labelled block.</a:t>
            </a:r>
            <a:endParaRPr lang="en-US" sz="1250" dirty="0"/>
          </a:p>
        </p:txBody>
      </p:sp>
      <p:sp>
        <p:nvSpPr>
          <p:cNvPr id="11" name="Text 8"/>
          <p:cNvSpPr/>
          <p:nvPr/>
        </p:nvSpPr>
        <p:spPr>
          <a:xfrm>
            <a:off x="8503920" y="3273552"/>
            <a:ext cx="3063240" cy="274320"/>
          </a:xfrm>
          <a:prstGeom prst="rect">
            <a:avLst/>
          </a:prstGeom>
          <a:noFill/>
          <a:ln/>
        </p:spPr>
        <p:txBody>
          <a:bodyPr wrap="square" lIns="0" tIns="0" rIns="0" bIns="0" rtlCol="0" anchor="ctr"/>
          <a:lstStyle/>
          <a:p>
            <a:pPr indent="0" marL="0">
              <a:buNone/>
            </a:pPr>
            <a:r>
              <a:rPr lang="en-US" sz="1450" b="1" dirty="0">
                <a:solidFill>
                  <a:srgbClr val="12263F"/>
                </a:solidFill>
                <a:latin typeface="Cambria" pitchFamily="34" charset="0"/>
                <a:ea typeface="Cambria" pitchFamily="34" charset="-122"/>
                <a:cs typeface="Cambria" pitchFamily="34" charset="-120"/>
              </a:rPr>
              <a:t>Attributed</a:t>
            </a:r>
            <a:endParaRPr lang="en-US" sz="1450" dirty="0"/>
          </a:p>
        </p:txBody>
      </p:sp>
      <p:sp>
        <p:nvSpPr>
          <p:cNvPr id="12" name="Text 9"/>
          <p:cNvSpPr/>
          <p:nvPr/>
        </p:nvSpPr>
        <p:spPr>
          <a:xfrm>
            <a:off x="8503920" y="3566160"/>
            <a:ext cx="3063240" cy="566928"/>
          </a:xfrm>
          <a:prstGeom prst="rect">
            <a:avLst/>
          </a:prstGeom>
          <a:noFill/>
          <a:ln/>
        </p:spPr>
        <p:txBody>
          <a:bodyPr wrap="square" lIns="0" tIns="0" rIns="0" bIns="0" rtlCol="0" anchor="ctr"/>
          <a:lstStyle/>
          <a:p>
            <a:pPr indent="0" marL="0">
              <a:lnSpc>
                <a:spcPts val="1700"/>
              </a:lnSpc>
              <a:buNone/>
            </a:pPr>
            <a:r>
              <a:rPr lang="en-US" sz="1250" dirty="0">
                <a:solidFill>
                  <a:srgbClr val="5D6B7A"/>
                </a:solidFill>
                <a:latin typeface="Calibri" pitchFamily="34" charset="0"/>
                <a:ea typeface="Calibri" pitchFamily="34" charset="-122"/>
                <a:cs typeface="Calibri" pitchFamily="34" charset="-120"/>
              </a:rPr>
              <a:t>It states plainly that this is not the author's published position.</a:t>
            </a:r>
            <a:endParaRPr lang="en-US" sz="1250" dirty="0"/>
          </a:p>
        </p:txBody>
      </p:sp>
      <p:sp>
        <p:nvSpPr>
          <p:cNvPr id="13" name="Text 10"/>
          <p:cNvSpPr/>
          <p:nvPr/>
        </p:nvSpPr>
        <p:spPr>
          <a:xfrm>
            <a:off x="8503920" y="4169664"/>
            <a:ext cx="3063240" cy="274320"/>
          </a:xfrm>
          <a:prstGeom prst="rect">
            <a:avLst/>
          </a:prstGeom>
          <a:noFill/>
          <a:ln/>
        </p:spPr>
        <p:txBody>
          <a:bodyPr wrap="square" lIns="0" tIns="0" rIns="0" bIns="0" rtlCol="0" anchor="ctr"/>
          <a:lstStyle/>
          <a:p>
            <a:pPr indent="0" marL="0">
              <a:buNone/>
            </a:pPr>
            <a:r>
              <a:rPr lang="en-US" sz="1450" b="1" dirty="0">
                <a:solidFill>
                  <a:srgbClr val="12263F"/>
                </a:solidFill>
                <a:latin typeface="Cambria" pitchFamily="34" charset="0"/>
                <a:ea typeface="Cambria" pitchFamily="34" charset="-122"/>
                <a:cs typeface="Cambria" pitchFamily="34" charset="-120"/>
              </a:rPr>
              <a:t>Still cited</a:t>
            </a:r>
            <a:endParaRPr lang="en-US" sz="1450" dirty="0"/>
          </a:p>
        </p:txBody>
      </p:sp>
      <p:sp>
        <p:nvSpPr>
          <p:cNvPr id="14" name="Text 11"/>
          <p:cNvSpPr/>
          <p:nvPr/>
        </p:nvSpPr>
        <p:spPr>
          <a:xfrm>
            <a:off x="8503920" y="4462272"/>
            <a:ext cx="3063240" cy="566928"/>
          </a:xfrm>
          <a:prstGeom prst="rect">
            <a:avLst/>
          </a:prstGeom>
          <a:noFill/>
          <a:ln/>
        </p:spPr>
        <p:txBody>
          <a:bodyPr wrap="square" lIns="0" tIns="0" rIns="0" bIns="0" rtlCol="0" anchor="ctr"/>
          <a:lstStyle/>
          <a:p>
            <a:pPr indent="0" marL="0">
              <a:lnSpc>
                <a:spcPts val="1700"/>
              </a:lnSpc>
              <a:buNone/>
            </a:pPr>
            <a:r>
              <a:rPr lang="en-US" sz="1250" dirty="0">
                <a:solidFill>
                  <a:srgbClr val="5D6B7A"/>
                </a:solidFill>
                <a:latin typeface="Calibri" pitchFamily="34" charset="0"/>
                <a:ea typeface="Calibri" pitchFamily="34" charset="-122"/>
                <a:cs typeface="Calibri" pitchFamily="34" charset="-120"/>
              </a:rPr>
              <a:t>The inference points at the passages it was drawn from.</a:t>
            </a:r>
            <a:endParaRPr lang="en-US" sz="1250" dirty="0"/>
          </a:p>
        </p:txBody>
      </p:sp>
      <p:sp>
        <p:nvSpPr>
          <p:cNvPr id="15" name="Text 12"/>
          <p:cNvSpPr/>
          <p:nvPr/>
        </p:nvSpPr>
        <p:spPr>
          <a:xfrm>
            <a:off x="594360" y="5349240"/>
            <a:ext cx="10881360" cy="548640"/>
          </a:xfrm>
          <a:prstGeom prst="rect">
            <a:avLst/>
          </a:prstGeom>
          <a:noFill/>
          <a:ln/>
        </p:spPr>
        <p:txBody>
          <a:bodyPr wrap="square" lIns="0" tIns="0" rIns="0" bIns="0" rtlCol="0" anchor="ctr"/>
          <a:lstStyle/>
          <a:p>
            <a:pPr indent="0" marL="0">
              <a:lnSpc>
                <a:spcPts val="2000"/>
              </a:lnSpc>
              <a:buNone/>
            </a:pPr>
            <a:r>
              <a:rPr lang="en-US" sz="1400" i="1" dirty="0">
                <a:solidFill>
                  <a:srgbClr val="2E5E7E"/>
                </a:solidFill>
                <a:latin typeface="Calibri" pitchFamily="34" charset="0"/>
                <a:ea typeface="Calibri" pitchFamily="34" charset="-122"/>
                <a:cs typeface="Calibri" pitchFamily="34" charset="-120"/>
              </a:rPr>
              <a:t>The AI analyses; the researcher decides. Interpretation is offered as interpretation — never blended into the author's voice.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FOR EVALUATORS</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What sits behind the answer</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621792" y="1764792"/>
            <a:ext cx="5431536" cy="2944368"/>
          </a:xfrm>
          <a:prstGeom prst="roundRect">
            <a:avLst>
              <a:gd name="adj" fmla="val 1863"/>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pic>
        <p:nvPicPr>
          <p:cNvPr id="7" name="Image 0" descr="/tmp/claude-0/-home-user-source-grounded-rag/68b384e6-984f-5261-98d9-fb926fa4c5e2/scratchpad/shots/diagnostics_table.png">    </p:cNvPr>
          <p:cNvPicPr>
            <a:picLocks noChangeAspect="1"/>
          </p:cNvPicPr>
          <p:nvPr/>
        </p:nvPicPr>
        <p:blipFill>
          <a:blip r:embed="rId1"/>
          <a:srcRect l="0" r="0" t="0" b="0"/>
          <a:stretch/>
        </p:blipFill>
        <p:spPr>
          <a:xfrm>
            <a:off x="731520" y="1874520"/>
            <a:ext cx="5212080" cy="2724912"/>
          </a:xfrm>
          <a:prstGeom prst="rect">
            <a:avLst/>
          </a:prstGeom>
        </p:spPr>
      </p:pic>
      <p:sp>
        <p:nvSpPr>
          <p:cNvPr id="8" name="Text 5"/>
          <p:cNvSpPr/>
          <p:nvPr/>
        </p:nvSpPr>
        <p:spPr>
          <a:xfrm>
            <a:off x="731520" y="5029200"/>
            <a:ext cx="5394960" cy="548640"/>
          </a:xfrm>
          <a:prstGeom prst="rect">
            <a:avLst/>
          </a:prstGeom>
          <a:noFill/>
          <a:ln/>
        </p:spPr>
        <p:txBody>
          <a:bodyPr wrap="square" lIns="0" tIns="0" rIns="0" bIns="0" rtlCol="0" anchor="ctr"/>
          <a:lstStyle/>
          <a:p>
            <a:pPr indent="0" marL="0">
              <a:lnSpc>
                <a:spcPts val="1800"/>
              </a:lnSpc>
              <a:buNone/>
            </a:pPr>
            <a:r>
              <a:rPr lang="en-US" sz="1250" i="1" dirty="0">
                <a:solidFill>
                  <a:srgbClr val="5D6B7A"/>
                </a:solidFill>
                <a:latin typeface="Calibri" pitchFamily="34" charset="0"/>
                <a:ea typeface="Calibri" pitchFamily="34" charset="-122"/>
                <a:cs typeface="Calibri" pitchFamily="34" charset="-120"/>
              </a:rPr>
              <a:t>Collapsed by default — present for anyone who wants it, absent for everyone who does not.</a:t>
            </a:r>
            <a:endParaRPr lang="en-US" sz="1250" dirty="0"/>
          </a:p>
        </p:txBody>
      </p:sp>
      <p:sp>
        <p:nvSpPr>
          <p:cNvPr id="9" name="Shape 6"/>
          <p:cNvSpPr/>
          <p:nvPr/>
        </p:nvSpPr>
        <p:spPr>
          <a:xfrm>
            <a:off x="6446520" y="1874520"/>
            <a:ext cx="5148072" cy="877824"/>
          </a:xfrm>
          <a:prstGeom prst="roundRect">
            <a:avLst>
              <a:gd name="adj" fmla="val 8333"/>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0" name="Text 7"/>
          <p:cNvSpPr/>
          <p:nvPr/>
        </p:nvSpPr>
        <p:spPr>
          <a:xfrm>
            <a:off x="6720840" y="1993392"/>
            <a:ext cx="4663440" cy="274320"/>
          </a:xfrm>
          <a:prstGeom prst="rect">
            <a:avLst/>
          </a:prstGeom>
          <a:noFill/>
          <a:ln/>
        </p:spPr>
        <p:txBody>
          <a:bodyPr wrap="square" lIns="0" tIns="0" rIns="0" bIns="0" rtlCol="0" anchor="ctr"/>
          <a:lstStyle/>
          <a:p>
            <a:pPr indent="0" marL="0">
              <a:buNone/>
            </a:pPr>
            <a:r>
              <a:rPr lang="en-US" sz="1400" b="1" dirty="0">
                <a:solidFill>
                  <a:srgbClr val="12263F"/>
                </a:solidFill>
                <a:latin typeface="Cambria" pitchFamily="34" charset="0"/>
                <a:ea typeface="Cambria" pitchFamily="34" charset="-122"/>
                <a:cs typeface="Cambria" pitchFamily="34" charset="-120"/>
              </a:rPr>
              <a:t>Scores are diagnostics</a:t>
            </a:r>
            <a:endParaRPr lang="en-US" sz="1400" dirty="0"/>
          </a:p>
        </p:txBody>
      </p:sp>
      <p:sp>
        <p:nvSpPr>
          <p:cNvPr id="11" name="Text 8"/>
          <p:cNvSpPr/>
          <p:nvPr/>
        </p:nvSpPr>
        <p:spPr>
          <a:xfrm>
            <a:off x="6720840" y="2295144"/>
            <a:ext cx="4617720" cy="402336"/>
          </a:xfrm>
          <a:prstGeom prst="rect">
            <a:avLst/>
          </a:prstGeom>
          <a:noFill/>
          <a:ln/>
        </p:spPr>
        <p:txBody>
          <a:bodyPr wrap="square" lIns="0" tIns="0" rIns="0" bIns="0" rtlCol="0" anchor="ctr"/>
          <a:lstStyle/>
          <a:p>
            <a:pPr indent="0" marL="0">
              <a:lnSpc>
                <a:spcPts val="1500"/>
              </a:lnSpc>
              <a:buNone/>
            </a:pPr>
            <a:r>
              <a:rPr lang="en-US" sz="1150" dirty="0">
                <a:solidFill>
                  <a:srgbClr val="5D6B7A"/>
                </a:solidFill>
                <a:latin typeface="Calibri" pitchFamily="34" charset="0"/>
                <a:ea typeface="Calibri" pitchFamily="34" charset="-122"/>
                <a:cs typeface="Calibri" pitchFamily="34" charset="-120"/>
              </a:rPr>
              <a:t>Similarity is never rendered as confidence, and never the sole basis for a refusal.</a:t>
            </a:r>
            <a:endParaRPr lang="en-US" sz="1150" dirty="0"/>
          </a:p>
        </p:txBody>
      </p:sp>
      <p:sp>
        <p:nvSpPr>
          <p:cNvPr id="12" name="Shape 9"/>
          <p:cNvSpPr/>
          <p:nvPr/>
        </p:nvSpPr>
        <p:spPr>
          <a:xfrm>
            <a:off x="6446520" y="2898648"/>
            <a:ext cx="5148072" cy="877824"/>
          </a:xfrm>
          <a:prstGeom prst="roundRect">
            <a:avLst>
              <a:gd name="adj" fmla="val 8333"/>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3" name="Text 10"/>
          <p:cNvSpPr/>
          <p:nvPr/>
        </p:nvSpPr>
        <p:spPr>
          <a:xfrm>
            <a:off x="6720840" y="3017520"/>
            <a:ext cx="4663440" cy="274320"/>
          </a:xfrm>
          <a:prstGeom prst="rect">
            <a:avLst/>
          </a:prstGeom>
          <a:noFill/>
          <a:ln/>
        </p:spPr>
        <p:txBody>
          <a:bodyPr wrap="square" lIns="0" tIns="0" rIns="0" bIns="0" rtlCol="0" anchor="ctr"/>
          <a:lstStyle/>
          <a:p>
            <a:pPr indent="0" marL="0">
              <a:buNone/>
            </a:pPr>
            <a:r>
              <a:rPr lang="en-US" sz="1400" b="1" dirty="0">
                <a:solidFill>
                  <a:srgbClr val="12263F"/>
                </a:solidFill>
                <a:latin typeface="Cambria" pitchFamily="34" charset="0"/>
                <a:ea typeface="Cambria" pitchFamily="34" charset="-122"/>
                <a:cs typeface="Cambria" pitchFamily="34" charset="-120"/>
              </a:rPr>
              <a:t>Citation check</a:t>
            </a:r>
            <a:endParaRPr lang="en-US" sz="1400" dirty="0"/>
          </a:p>
        </p:txBody>
      </p:sp>
      <p:sp>
        <p:nvSpPr>
          <p:cNvPr id="14" name="Text 11"/>
          <p:cNvSpPr/>
          <p:nvPr/>
        </p:nvSpPr>
        <p:spPr>
          <a:xfrm>
            <a:off x="6720840" y="3319272"/>
            <a:ext cx="4617720" cy="402336"/>
          </a:xfrm>
          <a:prstGeom prst="rect">
            <a:avLst/>
          </a:prstGeom>
          <a:noFill/>
          <a:ln/>
        </p:spPr>
        <p:txBody>
          <a:bodyPr wrap="square" lIns="0" tIns="0" rIns="0" bIns="0" rtlCol="0" anchor="ctr"/>
          <a:lstStyle/>
          <a:p>
            <a:pPr indent="0" marL="0">
              <a:lnSpc>
                <a:spcPts val="1500"/>
              </a:lnSpc>
              <a:buNone/>
            </a:pPr>
            <a:r>
              <a:rPr lang="en-US" sz="1150" dirty="0">
                <a:solidFill>
                  <a:srgbClr val="5D6B7A"/>
                </a:solidFill>
                <a:latin typeface="Calibri" pitchFamily="34" charset="0"/>
                <a:ea typeface="Calibri" pitchFamily="34" charset="-122"/>
                <a:cs typeface="Calibri" pitchFamily="34" charset="-120"/>
              </a:rPr>
              <a:t>Any handle the model used that was not in the evidence set is a recorded failure.</a:t>
            </a:r>
            <a:endParaRPr lang="en-US" sz="1150" dirty="0"/>
          </a:p>
        </p:txBody>
      </p:sp>
      <p:sp>
        <p:nvSpPr>
          <p:cNvPr id="15" name="Shape 12"/>
          <p:cNvSpPr/>
          <p:nvPr/>
        </p:nvSpPr>
        <p:spPr>
          <a:xfrm>
            <a:off x="6446520" y="3922776"/>
            <a:ext cx="5148072" cy="877824"/>
          </a:xfrm>
          <a:prstGeom prst="roundRect">
            <a:avLst>
              <a:gd name="adj" fmla="val 8333"/>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6" name="Text 13"/>
          <p:cNvSpPr/>
          <p:nvPr/>
        </p:nvSpPr>
        <p:spPr>
          <a:xfrm>
            <a:off x="6720840" y="4041648"/>
            <a:ext cx="4663440" cy="274320"/>
          </a:xfrm>
          <a:prstGeom prst="rect">
            <a:avLst/>
          </a:prstGeom>
          <a:noFill/>
          <a:ln/>
        </p:spPr>
        <p:txBody>
          <a:bodyPr wrap="square" lIns="0" tIns="0" rIns="0" bIns="0" rtlCol="0" anchor="ctr"/>
          <a:lstStyle/>
          <a:p>
            <a:pPr indent="0" marL="0">
              <a:buNone/>
            </a:pPr>
            <a:r>
              <a:rPr lang="en-US" sz="1400" b="1" dirty="0">
                <a:solidFill>
                  <a:srgbClr val="12263F"/>
                </a:solidFill>
                <a:latin typeface="Cambria" pitchFamily="34" charset="0"/>
                <a:ea typeface="Cambria" pitchFamily="34" charset="-122"/>
                <a:cs typeface="Cambria" pitchFamily="34" charset="-120"/>
              </a:rPr>
              <a:t>Page-invention check</a:t>
            </a:r>
            <a:endParaRPr lang="en-US" sz="1400" dirty="0"/>
          </a:p>
        </p:txBody>
      </p:sp>
      <p:sp>
        <p:nvSpPr>
          <p:cNvPr id="17" name="Text 14"/>
          <p:cNvSpPr/>
          <p:nvPr/>
        </p:nvSpPr>
        <p:spPr>
          <a:xfrm>
            <a:off x="6720840" y="4343400"/>
            <a:ext cx="4617720" cy="402336"/>
          </a:xfrm>
          <a:prstGeom prst="rect">
            <a:avLst/>
          </a:prstGeom>
          <a:noFill/>
          <a:ln/>
        </p:spPr>
        <p:txBody>
          <a:bodyPr wrap="square" lIns="0" tIns="0" rIns="0" bIns="0" rtlCol="0" anchor="ctr"/>
          <a:lstStyle/>
          <a:p>
            <a:pPr indent="0" marL="0">
              <a:lnSpc>
                <a:spcPts val="1500"/>
              </a:lnSpc>
              <a:buNone/>
            </a:pPr>
            <a:r>
              <a:rPr lang="en-US" sz="1150" dirty="0">
                <a:solidFill>
                  <a:srgbClr val="5D6B7A"/>
                </a:solidFill>
                <a:latin typeface="Calibri" pitchFamily="34" charset="0"/>
                <a:ea typeface="Calibri" pitchFamily="34" charset="-122"/>
                <a:cs typeface="Calibri" pitchFamily="34" charset="-120"/>
              </a:rPr>
              <a:t>If a page reference appears in generated text, the answer is flagged, not shown as clean.</a:t>
            </a:r>
            <a:endParaRPr lang="en-US" sz="1150" dirty="0"/>
          </a:p>
        </p:txBody>
      </p:sp>
      <p:sp>
        <p:nvSpPr>
          <p:cNvPr id="18" name="Shape 15"/>
          <p:cNvSpPr/>
          <p:nvPr/>
        </p:nvSpPr>
        <p:spPr>
          <a:xfrm>
            <a:off x="6446520" y="4946904"/>
            <a:ext cx="5148072" cy="877824"/>
          </a:xfrm>
          <a:prstGeom prst="roundRect">
            <a:avLst>
              <a:gd name="adj" fmla="val 8333"/>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9" name="Text 16"/>
          <p:cNvSpPr/>
          <p:nvPr/>
        </p:nvSpPr>
        <p:spPr>
          <a:xfrm>
            <a:off x="6720840" y="5065776"/>
            <a:ext cx="4663440" cy="274320"/>
          </a:xfrm>
          <a:prstGeom prst="rect">
            <a:avLst/>
          </a:prstGeom>
          <a:noFill/>
          <a:ln/>
        </p:spPr>
        <p:txBody>
          <a:bodyPr wrap="square" lIns="0" tIns="0" rIns="0" bIns="0" rtlCol="0" anchor="ctr"/>
          <a:lstStyle/>
          <a:p>
            <a:pPr indent="0" marL="0">
              <a:buNone/>
            </a:pPr>
            <a:r>
              <a:rPr lang="en-US" sz="1400" b="1" dirty="0">
                <a:solidFill>
                  <a:srgbClr val="12263F"/>
                </a:solidFill>
                <a:latin typeface="Cambria" pitchFamily="34" charset="0"/>
                <a:ea typeface="Cambria" pitchFamily="34" charset="-122"/>
                <a:cs typeface="Cambria" pitchFamily="34" charset="-120"/>
              </a:rPr>
              <a:t>Failures are results</a:t>
            </a:r>
            <a:endParaRPr lang="en-US" sz="1400" dirty="0"/>
          </a:p>
        </p:txBody>
      </p:sp>
      <p:sp>
        <p:nvSpPr>
          <p:cNvPr id="20" name="Text 17"/>
          <p:cNvSpPr/>
          <p:nvPr/>
        </p:nvSpPr>
        <p:spPr>
          <a:xfrm>
            <a:off x="6720840" y="5367528"/>
            <a:ext cx="4617720" cy="402336"/>
          </a:xfrm>
          <a:prstGeom prst="rect">
            <a:avLst/>
          </a:prstGeom>
          <a:noFill/>
          <a:ln/>
        </p:spPr>
        <p:txBody>
          <a:bodyPr wrap="square" lIns="0" tIns="0" rIns="0" bIns="0" rtlCol="0" anchor="ctr"/>
          <a:lstStyle/>
          <a:p>
            <a:pPr indent="0" marL="0">
              <a:lnSpc>
                <a:spcPts val="1500"/>
              </a:lnSpc>
              <a:buNone/>
            </a:pPr>
            <a:r>
              <a:rPr lang="en-US" sz="1150" dirty="0">
                <a:solidFill>
                  <a:srgbClr val="5D6B7A"/>
                </a:solidFill>
                <a:latin typeface="Calibri" pitchFamily="34" charset="0"/>
                <a:ea typeface="Calibri" pitchFamily="34" charset="-122"/>
                <a:cs typeface="Calibri" pitchFamily="34" charset="-120"/>
              </a:rPr>
              <a:t>A validation failure is reported, never silently retried away.</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STATUS</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Where the prototype stands</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94360" y="1828800"/>
            <a:ext cx="2560320" cy="1463040"/>
          </a:xfrm>
          <a:prstGeom prst="roundRect">
            <a:avLst>
              <a:gd name="adj" fmla="val 5000"/>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7" name="Text 5"/>
          <p:cNvSpPr/>
          <p:nvPr/>
        </p:nvSpPr>
        <p:spPr>
          <a:xfrm>
            <a:off x="594360" y="1938528"/>
            <a:ext cx="2560320" cy="777240"/>
          </a:xfrm>
          <a:prstGeom prst="rect">
            <a:avLst/>
          </a:prstGeom>
          <a:noFill/>
          <a:ln/>
        </p:spPr>
        <p:txBody>
          <a:bodyPr wrap="square" lIns="0" tIns="0" rIns="0" bIns="0" rtlCol="0" anchor="ctr"/>
          <a:lstStyle/>
          <a:p>
            <a:pPr algn="ctr" indent="0" marL="0">
              <a:buNone/>
            </a:pPr>
            <a:r>
              <a:rPr lang="en-US" sz="4200" b="1" dirty="0">
                <a:solidFill>
                  <a:srgbClr val="12263F"/>
                </a:solidFill>
                <a:latin typeface="Cambria" pitchFamily="34" charset="0"/>
                <a:ea typeface="Cambria" pitchFamily="34" charset="-122"/>
                <a:cs typeface="Cambria" pitchFamily="34" charset="-120"/>
              </a:rPr>
              <a:t>320</a:t>
            </a:r>
            <a:endParaRPr lang="en-US" sz="4200" dirty="0"/>
          </a:p>
        </p:txBody>
      </p:sp>
      <p:sp>
        <p:nvSpPr>
          <p:cNvPr id="8" name="Text 6"/>
          <p:cNvSpPr/>
          <p:nvPr/>
        </p:nvSpPr>
        <p:spPr>
          <a:xfrm>
            <a:off x="594360" y="2743200"/>
            <a:ext cx="2560320" cy="365760"/>
          </a:xfrm>
          <a:prstGeom prst="rect">
            <a:avLst/>
          </a:prstGeom>
          <a:noFill/>
          <a:ln/>
        </p:spPr>
        <p:txBody>
          <a:bodyPr wrap="square" lIns="0" tIns="0" rIns="0" bIns="0" rtlCol="0" anchor="ctr"/>
          <a:lstStyle/>
          <a:p>
            <a:pPr algn="ctr" indent="0" marL="0">
              <a:buNone/>
            </a:pPr>
            <a:r>
              <a:rPr lang="en-US" sz="1250" dirty="0">
                <a:solidFill>
                  <a:srgbClr val="5D6B7A"/>
                </a:solidFill>
                <a:latin typeface="Calibri" pitchFamily="34" charset="0"/>
                <a:ea typeface="Calibri" pitchFamily="34" charset="-122"/>
                <a:cs typeface="Calibri" pitchFamily="34" charset="-120"/>
              </a:rPr>
              <a:t>pages ingested</a:t>
            </a:r>
            <a:endParaRPr lang="en-US" sz="1250" dirty="0"/>
          </a:p>
        </p:txBody>
      </p:sp>
      <p:sp>
        <p:nvSpPr>
          <p:cNvPr id="9" name="Shape 7"/>
          <p:cNvSpPr/>
          <p:nvPr/>
        </p:nvSpPr>
        <p:spPr>
          <a:xfrm>
            <a:off x="3355848" y="1828800"/>
            <a:ext cx="2560320" cy="1463040"/>
          </a:xfrm>
          <a:prstGeom prst="roundRect">
            <a:avLst>
              <a:gd name="adj" fmla="val 5000"/>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0" name="Text 8"/>
          <p:cNvSpPr/>
          <p:nvPr/>
        </p:nvSpPr>
        <p:spPr>
          <a:xfrm>
            <a:off x="3355848" y="1938528"/>
            <a:ext cx="2560320" cy="777240"/>
          </a:xfrm>
          <a:prstGeom prst="rect">
            <a:avLst/>
          </a:prstGeom>
          <a:noFill/>
          <a:ln/>
        </p:spPr>
        <p:txBody>
          <a:bodyPr wrap="square" lIns="0" tIns="0" rIns="0" bIns="0" rtlCol="0" anchor="ctr"/>
          <a:lstStyle/>
          <a:p>
            <a:pPr algn="ctr" indent="0" marL="0">
              <a:buNone/>
            </a:pPr>
            <a:r>
              <a:rPr lang="en-US" sz="4200" b="1" dirty="0">
                <a:solidFill>
                  <a:srgbClr val="12263F"/>
                </a:solidFill>
                <a:latin typeface="Cambria" pitchFamily="34" charset="0"/>
                <a:ea typeface="Cambria" pitchFamily="34" charset="-122"/>
                <a:cs typeface="Cambria" pitchFamily="34" charset="-120"/>
              </a:rPr>
              <a:t>249</a:t>
            </a:r>
            <a:endParaRPr lang="en-US" sz="4200" dirty="0"/>
          </a:p>
        </p:txBody>
      </p:sp>
      <p:sp>
        <p:nvSpPr>
          <p:cNvPr id="11" name="Text 9"/>
          <p:cNvSpPr/>
          <p:nvPr/>
        </p:nvSpPr>
        <p:spPr>
          <a:xfrm>
            <a:off x="3355848" y="2743200"/>
            <a:ext cx="2560320" cy="365760"/>
          </a:xfrm>
          <a:prstGeom prst="rect">
            <a:avLst/>
          </a:prstGeom>
          <a:noFill/>
          <a:ln/>
        </p:spPr>
        <p:txBody>
          <a:bodyPr wrap="square" lIns="0" tIns="0" rIns="0" bIns="0" rtlCol="0" anchor="ctr"/>
          <a:lstStyle/>
          <a:p>
            <a:pPr algn="ctr" indent="0" marL="0">
              <a:buNone/>
            </a:pPr>
            <a:r>
              <a:rPr lang="en-US" sz="1250" dirty="0">
                <a:solidFill>
                  <a:srgbClr val="5D6B7A"/>
                </a:solidFill>
                <a:latin typeface="Calibri" pitchFamily="34" charset="0"/>
                <a:ea typeface="Calibri" pitchFamily="34" charset="-122"/>
                <a:cs typeface="Calibri" pitchFamily="34" charset="-120"/>
              </a:rPr>
              <a:t>indexed passages</a:t>
            </a:r>
            <a:endParaRPr lang="en-US" sz="1250" dirty="0"/>
          </a:p>
        </p:txBody>
      </p:sp>
      <p:sp>
        <p:nvSpPr>
          <p:cNvPr id="12" name="Shape 10"/>
          <p:cNvSpPr/>
          <p:nvPr/>
        </p:nvSpPr>
        <p:spPr>
          <a:xfrm>
            <a:off x="6117336" y="1828800"/>
            <a:ext cx="2560320" cy="1463040"/>
          </a:xfrm>
          <a:prstGeom prst="roundRect">
            <a:avLst>
              <a:gd name="adj" fmla="val 5000"/>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3" name="Text 11"/>
          <p:cNvSpPr/>
          <p:nvPr/>
        </p:nvSpPr>
        <p:spPr>
          <a:xfrm>
            <a:off x="6117336" y="1938528"/>
            <a:ext cx="2560320" cy="777240"/>
          </a:xfrm>
          <a:prstGeom prst="rect">
            <a:avLst/>
          </a:prstGeom>
          <a:noFill/>
          <a:ln/>
        </p:spPr>
        <p:txBody>
          <a:bodyPr wrap="square" lIns="0" tIns="0" rIns="0" bIns="0" rtlCol="0" anchor="ctr"/>
          <a:lstStyle/>
          <a:p>
            <a:pPr algn="ctr" indent="0" marL="0">
              <a:buNone/>
            </a:pPr>
            <a:r>
              <a:rPr lang="en-US" sz="4200" b="1" dirty="0">
                <a:solidFill>
                  <a:srgbClr val="12263F"/>
                </a:solidFill>
                <a:latin typeface="Cambria" pitchFamily="34" charset="0"/>
                <a:ea typeface="Cambria" pitchFamily="34" charset="-122"/>
                <a:cs typeface="Cambria" pitchFamily="34" charset="-120"/>
              </a:rPr>
              <a:t>5</a:t>
            </a:r>
            <a:endParaRPr lang="en-US" sz="4200" dirty="0"/>
          </a:p>
        </p:txBody>
      </p:sp>
      <p:sp>
        <p:nvSpPr>
          <p:cNvPr id="14" name="Text 12"/>
          <p:cNvSpPr/>
          <p:nvPr/>
        </p:nvSpPr>
        <p:spPr>
          <a:xfrm>
            <a:off x="6117336" y="2743200"/>
            <a:ext cx="2560320" cy="365760"/>
          </a:xfrm>
          <a:prstGeom prst="rect">
            <a:avLst/>
          </a:prstGeom>
          <a:noFill/>
          <a:ln/>
        </p:spPr>
        <p:txBody>
          <a:bodyPr wrap="square" lIns="0" tIns="0" rIns="0" bIns="0" rtlCol="0" anchor="ctr"/>
          <a:lstStyle/>
          <a:p>
            <a:pPr algn="ctr" indent="0" marL="0">
              <a:buNone/>
            </a:pPr>
            <a:r>
              <a:rPr lang="en-US" sz="1250" dirty="0">
                <a:solidFill>
                  <a:srgbClr val="5D6B7A"/>
                </a:solidFill>
                <a:latin typeface="Calibri" pitchFamily="34" charset="0"/>
                <a:ea typeface="Calibri" pitchFamily="34" charset="-122"/>
                <a:cs typeface="Calibri" pitchFamily="34" charset="-120"/>
              </a:rPr>
              <a:t>passages per answer</a:t>
            </a:r>
            <a:endParaRPr lang="en-US" sz="1250" dirty="0"/>
          </a:p>
        </p:txBody>
      </p:sp>
      <p:sp>
        <p:nvSpPr>
          <p:cNvPr id="15" name="Shape 13"/>
          <p:cNvSpPr/>
          <p:nvPr/>
        </p:nvSpPr>
        <p:spPr>
          <a:xfrm>
            <a:off x="8878824" y="1828800"/>
            <a:ext cx="2560320" cy="1463040"/>
          </a:xfrm>
          <a:prstGeom prst="roundRect">
            <a:avLst>
              <a:gd name="adj" fmla="val 5000"/>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6" name="Text 14"/>
          <p:cNvSpPr/>
          <p:nvPr/>
        </p:nvSpPr>
        <p:spPr>
          <a:xfrm>
            <a:off x="8878824" y="1938528"/>
            <a:ext cx="2560320" cy="777240"/>
          </a:xfrm>
          <a:prstGeom prst="rect">
            <a:avLst/>
          </a:prstGeom>
          <a:noFill/>
          <a:ln/>
        </p:spPr>
        <p:txBody>
          <a:bodyPr wrap="square" lIns="0" tIns="0" rIns="0" bIns="0" rtlCol="0" anchor="ctr"/>
          <a:lstStyle/>
          <a:p>
            <a:pPr algn="ctr" indent="0" marL="0">
              <a:buNone/>
            </a:pPr>
            <a:r>
              <a:rPr lang="en-US" sz="4200" b="1" dirty="0">
                <a:solidFill>
                  <a:srgbClr val="12263F"/>
                </a:solidFill>
                <a:latin typeface="Cambria" pitchFamily="34" charset="0"/>
                <a:ea typeface="Cambria" pitchFamily="34" charset="-122"/>
                <a:cs typeface="Cambria" pitchFamily="34" charset="-120"/>
              </a:rPr>
              <a:t>1</a:t>
            </a:r>
            <a:endParaRPr lang="en-US" sz="4200" dirty="0"/>
          </a:p>
        </p:txBody>
      </p:sp>
      <p:sp>
        <p:nvSpPr>
          <p:cNvPr id="17" name="Text 15"/>
          <p:cNvSpPr/>
          <p:nvPr/>
        </p:nvSpPr>
        <p:spPr>
          <a:xfrm>
            <a:off x="8878824" y="2743200"/>
            <a:ext cx="2560320" cy="365760"/>
          </a:xfrm>
          <a:prstGeom prst="rect">
            <a:avLst/>
          </a:prstGeom>
          <a:noFill/>
          <a:ln/>
        </p:spPr>
        <p:txBody>
          <a:bodyPr wrap="square" lIns="0" tIns="0" rIns="0" bIns="0" rtlCol="0" anchor="ctr"/>
          <a:lstStyle/>
          <a:p>
            <a:pPr algn="ctr" indent="0" marL="0">
              <a:buNone/>
            </a:pPr>
            <a:r>
              <a:rPr lang="en-US" sz="1250" dirty="0">
                <a:solidFill>
                  <a:srgbClr val="5D6B7A"/>
                </a:solidFill>
                <a:latin typeface="Calibri" pitchFamily="34" charset="0"/>
                <a:ea typeface="Calibri" pitchFamily="34" charset="-122"/>
                <a:cs typeface="Calibri" pitchFamily="34" charset="-120"/>
              </a:rPr>
              <a:t>shared pipeline</a:t>
            </a:r>
            <a:endParaRPr lang="en-US" sz="1250" dirty="0"/>
          </a:p>
        </p:txBody>
      </p:sp>
      <p:sp>
        <p:nvSpPr>
          <p:cNvPr id="18" name="Shape 16"/>
          <p:cNvSpPr/>
          <p:nvPr/>
        </p:nvSpPr>
        <p:spPr>
          <a:xfrm>
            <a:off x="594360" y="3611880"/>
            <a:ext cx="5349240" cy="2194560"/>
          </a:xfrm>
          <a:prstGeom prst="roundRect">
            <a:avLst>
              <a:gd name="adj" fmla="val 3333"/>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9" name="Text 17"/>
          <p:cNvSpPr/>
          <p:nvPr/>
        </p:nvSpPr>
        <p:spPr>
          <a:xfrm>
            <a:off x="914400" y="3840480"/>
            <a:ext cx="4663440" cy="320040"/>
          </a:xfrm>
          <a:prstGeom prst="rect">
            <a:avLst/>
          </a:prstGeom>
          <a:noFill/>
          <a:ln/>
        </p:spPr>
        <p:txBody>
          <a:bodyPr wrap="square" lIns="0" tIns="0" rIns="0" bIns="0" rtlCol="0" anchor="ctr"/>
          <a:lstStyle/>
          <a:p>
            <a:pPr indent="0" marL="0">
              <a:buNone/>
            </a:pPr>
            <a:r>
              <a:rPr lang="en-US" sz="1600" b="1" dirty="0">
                <a:solidFill>
                  <a:srgbClr val="12263F"/>
                </a:solidFill>
                <a:latin typeface="Cambria" pitchFamily="34" charset="0"/>
                <a:ea typeface="Cambria" pitchFamily="34" charset="-122"/>
                <a:cs typeface="Cambria" pitchFamily="34" charset="-120"/>
              </a:rPr>
              <a:t>Implemented</a:t>
            </a:r>
            <a:endParaRPr lang="en-US" sz="1600" dirty="0"/>
          </a:p>
        </p:txBody>
      </p:sp>
      <p:sp>
        <p:nvSpPr>
          <p:cNvPr id="20" name="Text 18"/>
          <p:cNvSpPr/>
          <p:nvPr/>
        </p:nvSpPr>
        <p:spPr>
          <a:xfrm>
            <a:off x="914400" y="4224528"/>
            <a:ext cx="4709160" cy="1371600"/>
          </a:xfrm>
          <a:prstGeom prst="rect">
            <a:avLst/>
          </a:prstGeom>
          <a:noFill/>
          <a:ln/>
        </p:spPr>
        <p:txBody>
          <a:bodyPr wrap="square" lIns="0" tIns="0" rIns="0" bIns="0" rtlCol="0" anchor="ctr"/>
          <a:lstStyle/>
          <a:p>
            <a:pPr indent="0" marL="0">
              <a:lnSpc>
                <a:spcPts val="1900"/>
              </a:lnSpc>
              <a:buNone/>
            </a:pPr>
            <a:r>
              <a:rPr lang="en-US" sz="1250" dirty="0">
                <a:solidFill>
                  <a:srgbClr val="5D6B7A"/>
                </a:solidFill>
                <a:latin typeface="Calibri" pitchFamily="34" charset="0"/>
                <a:ea typeface="Calibri" pitchFamily="34" charset="-122"/>
                <a:cs typeface="Calibri" pitchFamily="34" charset="-120"/>
              </a:rPr>
              <a:t>End-to-end ingestion with page provenance · chapter-bounded chunking · retrieval · grounded generation with refusal · blocking validation · three interfaces over one pipeline.</a:t>
            </a:r>
            <a:endParaRPr lang="en-US" sz="1250" dirty="0"/>
          </a:p>
        </p:txBody>
      </p:sp>
      <p:sp>
        <p:nvSpPr>
          <p:cNvPr id="21" name="Shape 19"/>
          <p:cNvSpPr/>
          <p:nvPr/>
        </p:nvSpPr>
        <p:spPr>
          <a:xfrm>
            <a:off x="6263640" y="3611880"/>
            <a:ext cx="5349240" cy="2194560"/>
          </a:xfrm>
          <a:prstGeom prst="roundRect">
            <a:avLst>
              <a:gd name="adj" fmla="val 3333"/>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22" name="Text 20"/>
          <p:cNvSpPr/>
          <p:nvPr/>
        </p:nvSpPr>
        <p:spPr>
          <a:xfrm>
            <a:off x="6583680" y="3840480"/>
            <a:ext cx="4663440" cy="320040"/>
          </a:xfrm>
          <a:prstGeom prst="rect">
            <a:avLst/>
          </a:prstGeom>
          <a:noFill/>
          <a:ln/>
        </p:spPr>
        <p:txBody>
          <a:bodyPr wrap="square" lIns="0" tIns="0" rIns="0" bIns="0" rtlCol="0" anchor="ctr"/>
          <a:lstStyle/>
          <a:p>
            <a:pPr indent="0" marL="0">
              <a:buNone/>
            </a:pPr>
            <a:r>
              <a:rPr lang="en-US" sz="1600" b="1" dirty="0">
                <a:solidFill>
                  <a:srgbClr val="D08C1E"/>
                </a:solidFill>
                <a:latin typeface="Cambria" pitchFamily="34" charset="0"/>
                <a:ea typeface="Cambria" pitchFamily="34" charset="-122"/>
                <a:cs typeface="Cambria" pitchFamily="34" charset="-120"/>
              </a:rPr>
              <a:t>Not yet done — stated plainly</a:t>
            </a:r>
            <a:endParaRPr lang="en-US" sz="1600" dirty="0"/>
          </a:p>
        </p:txBody>
      </p:sp>
      <p:sp>
        <p:nvSpPr>
          <p:cNvPr id="23" name="Text 21"/>
          <p:cNvSpPr/>
          <p:nvPr/>
        </p:nvSpPr>
        <p:spPr>
          <a:xfrm>
            <a:off x="6583680" y="4224528"/>
            <a:ext cx="4709160" cy="1371600"/>
          </a:xfrm>
          <a:prstGeom prst="rect">
            <a:avLst/>
          </a:prstGeom>
          <a:noFill/>
          <a:ln/>
        </p:spPr>
        <p:txBody>
          <a:bodyPr wrap="square" lIns="0" tIns="0" rIns="0" bIns="0" rtlCol="0" anchor="ctr"/>
          <a:lstStyle/>
          <a:p>
            <a:pPr indent="0" marL="0">
              <a:lnSpc>
                <a:spcPts val="1900"/>
              </a:lnSpc>
              <a:buNone/>
            </a:pPr>
            <a:r>
              <a:rPr lang="en-US" sz="1250" dirty="0">
                <a:solidFill>
                  <a:srgbClr val="5D6B7A"/>
                </a:solidFill>
                <a:latin typeface="Calibri" pitchFamily="34" charset="0"/>
                <a:ea typeface="Calibri" pitchFamily="34" charset="-122"/>
                <a:cs typeface="Calibri" pitchFamily="34" charset="-120"/>
              </a:rPr>
              <a:t>One document, English only · retrieval is brute-force cosine, not hybrid · no formal evaluation run yet · the RAG versus no-RAG comparison is designed but not executed.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140" kern="0" dirty="0">
                <a:solidFill>
                  <a:srgbClr val="D08C1E"/>
                </a:solidFill>
                <a:latin typeface="Calibri" pitchFamily="34" charset="0"/>
                <a:ea typeface="Calibri" pitchFamily="34" charset="-122"/>
                <a:cs typeface="Calibri" pitchFamily="34" charset="-120"/>
              </a:rPr>
              <a:t>NEXT</a:t>
            </a:r>
            <a:endParaRPr lang="en-US" sz="1100" dirty="0"/>
          </a:p>
        </p:txBody>
      </p:sp>
      <p:sp>
        <p:nvSpPr>
          <p:cNvPr id="3" name="Text 1"/>
          <p:cNvSpPr/>
          <p:nvPr/>
        </p:nvSpPr>
        <p:spPr>
          <a:xfrm>
            <a:off x="594360" y="658368"/>
            <a:ext cx="10972800" cy="731520"/>
          </a:xfrm>
          <a:prstGeom prst="rect">
            <a:avLst/>
          </a:prstGeom>
          <a:noFill/>
          <a:ln/>
        </p:spPr>
        <p:txBody>
          <a:bodyPr wrap="square" lIns="0" tIns="0" rIns="0" bIns="0" rtlCol="0" anchor="t"/>
          <a:lstStyle/>
          <a:p>
            <a:pPr indent="0" marL="0">
              <a:buNone/>
            </a:pPr>
            <a:r>
              <a:rPr lang="en-US" sz="3100" b="1" dirty="0">
                <a:solidFill>
                  <a:srgbClr val="12263F"/>
                </a:solidFill>
                <a:latin typeface="Cambria" pitchFamily="34" charset="0"/>
                <a:ea typeface="Cambria" pitchFamily="34" charset="-122"/>
                <a:cs typeface="Cambria" pitchFamily="34" charset="-120"/>
              </a:rPr>
              <a:t>Where this goes — and what it could hold</a:t>
            </a:r>
            <a:endParaRPr lang="en-US" sz="3100" dirty="0"/>
          </a:p>
        </p:txBody>
      </p:sp>
      <p:sp>
        <p:nvSpPr>
          <p:cNvPr id="4" name="Text 2"/>
          <p:cNvSpPr/>
          <p:nvPr/>
        </p:nvSpPr>
        <p:spPr>
          <a:xfrm>
            <a:off x="594360" y="6327648"/>
            <a:ext cx="7315200" cy="274320"/>
          </a:xfrm>
          <a:prstGeom prst="rect">
            <a:avLst/>
          </a:prstGeom>
          <a:noFill/>
          <a:ln/>
        </p:spPr>
        <p:txBody>
          <a:bodyPr wrap="square" lIns="0" tIns="0" rIns="0" bIns="0" rtlCol="0" anchor="ctr"/>
          <a:lstStyle/>
          <a:p>
            <a:pPr indent="0" marL="0">
              <a:buNone/>
            </a:pPr>
            <a:r>
              <a:rPr lang="en-US" sz="1000" dirty="0">
                <a:solidFill>
                  <a:srgbClr val="93A3B2"/>
                </a:solidFill>
                <a:latin typeface="Calibri" pitchFamily="34" charset="0"/>
                <a:ea typeface="Calibri" pitchFamily="34" charset="-122"/>
                <a:cs typeface="Calibri" pitchFamily="34" charset="-120"/>
              </a:rPr>
              <a:t>ITCC-2026  ·  Source-Grounded Research Assistant</a:t>
            </a:r>
            <a:endParaRPr lang="en-US" sz="1000" dirty="0"/>
          </a:p>
        </p:txBody>
      </p:sp>
      <p:sp>
        <p:nvSpPr>
          <p:cNvPr id="5" name="Text 3"/>
          <p:cNvSpPr/>
          <p:nvPr/>
        </p:nvSpPr>
        <p:spPr>
          <a:xfrm>
            <a:off x="10515600" y="6327648"/>
            <a:ext cx="1078992" cy="274320"/>
          </a:xfrm>
          <a:prstGeom prst="rect">
            <a:avLst/>
          </a:prstGeom>
          <a:noFill/>
          <a:ln/>
        </p:spPr>
        <p:txBody>
          <a:bodyPr wrap="square" lIns="0" tIns="0" rIns="0" bIns="0" rtlCol="0" anchor="ctr"/>
          <a:lstStyle/>
          <a:p>
            <a:pPr algn="r" indent="0" marL="0">
              <a:buNone/>
            </a:pPr>
            <a:r>
              <a:rPr lang="en-US" sz="1000" dirty="0">
                <a:solidFill>
                  <a:srgbClr val="93A3B2"/>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94360" y="1874520"/>
            <a:ext cx="3429000" cy="3246120"/>
          </a:xfrm>
          <a:prstGeom prst="roundRect">
            <a:avLst>
              <a:gd name="adj" fmla="val 2254"/>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7" name="Shape 5"/>
          <p:cNvSpPr/>
          <p:nvPr/>
        </p:nvSpPr>
        <p:spPr>
          <a:xfrm>
            <a:off x="886968" y="2121408"/>
            <a:ext cx="420624" cy="420624"/>
          </a:xfrm>
          <a:prstGeom prst="ellipse">
            <a:avLst/>
          </a:prstGeom>
          <a:solidFill>
            <a:srgbClr val="2E5E7E"/>
          </a:solidFill>
          <a:ln w="12700">
            <a:solidFill>
              <a:srgbClr val="2E5E7E"/>
            </a:solidFill>
            <a:prstDash val="solid"/>
          </a:ln>
        </p:spPr>
      </p:sp>
      <p:sp>
        <p:nvSpPr>
          <p:cNvPr id="8" name="Text 6"/>
          <p:cNvSpPr/>
          <p:nvPr/>
        </p:nvSpPr>
        <p:spPr>
          <a:xfrm>
            <a:off x="886968" y="21214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886968" y="2697480"/>
            <a:ext cx="2834640" cy="640080"/>
          </a:xfrm>
          <a:prstGeom prst="rect">
            <a:avLst/>
          </a:prstGeom>
          <a:noFill/>
          <a:ln/>
        </p:spPr>
        <p:txBody>
          <a:bodyPr wrap="square" lIns="0" tIns="0" rIns="0" bIns="0" rtlCol="0" anchor="ctr"/>
          <a:lstStyle/>
          <a:p>
            <a:pPr indent="0" marL="0">
              <a:lnSpc>
                <a:spcPts val="2100"/>
              </a:lnSpc>
              <a:buNone/>
            </a:pPr>
            <a:r>
              <a:rPr lang="en-US" sz="1550" b="1" dirty="0">
                <a:solidFill>
                  <a:srgbClr val="12263F"/>
                </a:solidFill>
                <a:latin typeface="Cambria" pitchFamily="34" charset="0"/>
                <a:ea typeface="Cambria" pitchFamily="34" charset="-122"/>
                <a:cs typeface="Cambria" pitchFamily="34" charset="-120"/>
              </a:rPr>
              <a:t>Corpus-agnostic by design</a:t>
            </a:r>
            <a:endParaRPr lang="en-US" sz="1550" dirty="0"/>
          </a:p>
        </p:txBody>
      </p:sp>
      <p:sp>
        <p:nvSpPr>
          <p:cNvPr id="10" name="Text 8"/>
          <p:cNvSpPr/>
          <p:nvPr/>
        </p:nvSpPr>
        <p:spPr>
          <a:xfrm>
            <a:off x="886968" y="3401568"/>
            <a:ext cx="2880360" cy="1600200"/>
          </a:xfrm>
          <a:prstGeom prst="rect">
            <a:avLst/>
          </a:prstGeom>
          <a:noFill/>
          <a:ln/>
        </p:spPr>
        <p:txBody>
          <a:bodyPr wrap="square" lIns="0" tIns="0" rIns="0" bIns="0" rtlCol="0" anchor="ctr"/>
          <a:lstStyle/>
          <a:p>
            <a:pPr indent="0" marL="0">
              <a:lnSpc>
                <a:spcPts val="1800"/>
              </a:lnSpc>
              <a:buNone/>
            </a:pPr>
            <a:r>
              <a:rPr lang="en-US" sz="1250" dirty="0">
                <a:solidFill>
                  <a:srgbClr val="5D6B7A"/>
                </a:solidFill>
                <a:latin typeface="Calibri" pitchFamily="34" charset="0"/>
                <a:ea typeface="Calibri" pitchFamily="34" charset="-122"/>
                <a:cs typeface="Calibri" pitchFamily="34" charset="-120"/>
              </a:rPr>
              <a:t>The pipeline does not know it is reading a thesis. Cooperative statutes, member disclosures, audit reports, ICA principles and national cooperative law can replace the corpus without rewriting the retrieval or citation layers.</a:t>
            </a:r>
            <a:endParaRPr lang="en-US" sz="1250" dirty="0"/>
          </a:p>
        </p:txBody>
      </p:sp>
      <p:sp>
        <p:nvSpPr>
          <p:cNvPr id="11" name="Shape 9"/>
          <p:cNvSpPr/>
          <p:nvPr/>
        </p:nvSpPr>
        <p:spPr>
          <a:xfrm>
            <a:off x="4270248" y="1874520"/>
            <a:ext cx="3429000" cy="3246120"/>
          </a:xfrm>
          <a:prstGeom prst="roundRect">
            <a:avLst>
              <a:gd name="adj" fmla="val 2254"/>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2" name="Shape 10"/>
          <p:cNvSpPr/>
          <p:nvPr/>
        </p:nvSpPr>
        <p:spPr>
          <a:xfrm>
            <a:off x="4562856" y="2121408"/>
            <a:ext cx="420624" cy="420624"/>
          </a:xfrm>
          <a:prstGeom prst="ellipse">
            <a:avLst/>
          </a:prstGeom>
          <a:solidFill>
            <a:srgbClr val="12263F"/>
          </a:solidFill>
          <a:ln w="12700">
            <a:solidFill>
              <a:srgbClr val="12263F"/>
            </a:solidFill>
            <a:prstDash val="solid"/>
          </a:ln>
        </p:spPr>
      </p:sp>
      <p:sp>
        <p:nvSpPr>
          <p:cNvPr id="13" name="Text 11"/>
          <p:cNvSpPr/>
          <p:nvPr/>
        </p:nvSpPr>
        <p:spPr>
          <a:xfrm>
            <a:off x="4562856" y="21214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4562856" y="2697480"/>
            <a:ext cx="2834640" cy="640080"/>
          </a:xfrm>
          <a:prstGeom prst="rect">
            <a:avLst/>
          </a:prstGeom>
          <a:noFill/>
          <a:ln/>
        </p:spPr>
        <p:txBody>
          <a:bodyPr wrap="square" lIns="0" tIns="0" rIns="0" bIns="0" rtlCol="0" anchor="ctr"/>
          <a:lstStyle/>
          <a:p>
            <a:pPr indent="0" marL="0">
              <a:lnSpc>
                <a:spcPts val="2100"/>
              </a:lnSpc>
              <a:buNone/>
            </a:pPr>
            <a:r>
              <a:rPr lang="en-US" sz="1550" b="1" dirty="0">
                <a:solidFill>
                  <a:srgbClr val="12263F"/>
                </a:solidFill>
                <a:latin typeface="Cambria" pitchFamily="34" charset="0"/>
                <a:ea typeface="Cambria" pitchFamily="34" charset="-122"/>
                <a:cs typeface="Cambria" pitchFamily="34" charset="-120"/>
              </a:rPr>
              <a:t>The controlled comparison</a:t>
            </a:r>
            <a:endParaRPr lang="en-US" sz="1550" dirty="0"/>
          </a:p>
        </p:txBody>
      </p:sp>
      <p:sp>
        <p:nvSpPr>
          <p:cNvPr id="15" name="Text 13"/>
          <p:cNvSpPr/>
          <p:nvPr/>
        </p:nvSpPr>
        <p:spPr>
          <a:xfrm>
            <a:off x="4562856" y="3401568"/>
            <a:ext cx="2880360" cy="1600200"/>
          </a:xfrm>
          <a:prstGeom prst="rect">
            <a:avLst/>
          </a:prstGeom>
          <a:noFill/>
          <a:ln/>
        </p:spPr>
        <p:txBody>
          <a:bodyPr wrap="square" lIns="0" tIns="0" rIns="0" bIns="0" rtlCol="0" anchor="ctr"/>
          <a:lstStyle/>
          <a:p>
            <a:pPr indent="0" marL="0">
              <a:lnSpc>
                <a:spcPts val="1800"/>
              </a:lnSpc>
              <a:buNone/>
            </a:pPr>
            <a:r>
              <a:rPr lang="en-US" sz="1250" dirty="0">
                <a:solidFill>
                  <a:srgbClr val="5D6B7A"/>
                </a:solidFill>
                <a:latin typeface="Calibri" pitchFamily="34" charset="0"/>
                <a:ea typeface="Calibri" pitchFamily="34" charset="-122"/>
                <a:cs typeface="Calibri" pitchFamily="34" charset="-120"/>
              </a:rPr>
              <a:t>The same model, the same questions, with and without retrieved evidence — differing in exactly one variable. That comparison is the research question behind the tool.</a:t>
            </a:r>
            <a:endParaRPr lang="en-US" sz="1250" dirty="0"/>
          </a:p>
        </p:txBody>
      </p:sp>
      <p:sp>
        <p:nvSpPr>
          <p:cNvPr id="16" name="Shape 14"/>
          <p:cNvSpPr/>
          <p:nvPr/>
        </p:nvSpPr>
        <p:spPr>
          <a:xfrm>
            <a:off x="7946136" y="1874520"/>
            <a:ext cx="3429000" cy="3246120"/>
          </a:xfrm>
          <a:prstGeom prst="roundRect">
            <a:avLst>
              <a:gd name="adj" fmla="val 2254"/>
            </a:avLst>
          </a:prstGeom>
          <a:solidFill>
            <a:srgbClr val="FFFFFF"/>
          </a:solidFill>
          <a:ln w="9525">
            <a:solidFill>
              <a:srgbClr val="DCE3EA"/>
            </a:solidFill>
            <a:prstDash val="solid"/>
          </a:ln>
          <a:effectLst>
            <a:outerShdw sx="100000" sy="100000" kx="0" ky="0" algn="bl" rotWithShape="0" blurRad="127000" dist="25400" dir="5400000">
              <a:srgbClr val="8FA3B5">
                <a:alpha val="25000"/>
              </a:srgbClr>
            </a:outerShdw>
          </a:effectLst>
        </p:spPr>
      </p:sp>
      <p:sp>
        <p:nvSpPr>
          <p:cNvPr id="17" name="Shape 15"/>
          <p:cNvSpPr/>
          <p:nvPr/>
        </p:nvSpPr>
        <p:spPr>
          <a:xfrm>
            <a:off x="8238744" y="2121408"/>
            <a:ext cx="420624" cy="420624"/>
          </a:xfrm>
          <a:prstGeom prst="ellipse">
            <a:avLst/>
          </a:prstGeom>
          <a:solidFill>
            <a:srgbClr val="12263F"/>
          </a:solidFill>
          <a:ln w="12700">
            <a:solidFill>
              <a:srgbClr val="12263F"/>
            </a:solidFill>
            <a:prstDash val="solid"/>
          </a:ln>
        </p:spPr>
      </p:sp>
      <p:sp>
        <p:nvSpPr>
          <p:cNvPr id="18" name="Text 16"/>
          <p:cNvSpPr/>
          <p:nvPr/>
        </p:nvSpPr>
        <p:spPr>
          <a:xfrm>
            <a:off x="8238744" y="21214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8238744" y="2697480"/>
            <a:ext cx="2834640" cy="640080"/>
          </a:xfrm>
          <a:prstGeom prst="rect">
            <a:avLst/>
          </a:prstGeom>
          <a:noFill/>
          <a:ln/>
        </p:spPr>
        <p:txBody>
          <a:bodyPr wrap="square" lIns="0" tIns="0" rIns="0" bIns="0" rtlCol="0" anchor="ctr"/>
          <a:lstStyle/>
          <a:p>
            <a:pPr indent="0" marL="0">
              <a:lnSpc>
                <a:spcPts val="2100"/>
              </a:lnSpc>
              <a:buNone/>
            </a:pPr>
            <a:r>
              <a:rPr lang="en-US" sz="1550" b="1" dirty="0">
                <a:solidFill>
                  <a:srgbClr val="12263F"/>
                </a:solidFill>
                <a:latin typeface="Cambria" pitchFamily="34" charset="0"/>
                <a:ea typeface="Cambria" pitchFamily="34" charset="-122"/>
                <a:cs typeface="Cambria" pitchFamily="34" charset="-120"/>
              </a:rPr>
              <a:t>Measures, not impressions</a:t>
            </a:r>
            <a:endParaRPr lang="en-US" sz="1550" dirty="0"/>
          </a:p>
        </p:txBody>
      </p:sp>
      <p:sp>
        <p:nvSpPr>
          <p:cNvPr id="20" name="Text 18"/>
          <p:cNvSpPr/>
          <p:nvPr/>
        </p:nvSpPr>
        <p:spPr>
          <a:xfrm>
            <a:off x="8238744" y="3401568"/>
            <a:ext cx="2880360" cy="1600200"/>
          </a:xfrm>
          <a:prstGeom prst="rect">
            <a:avLst/>
          </a:prstGeom>
          <a:noFill/>
          <a:ln/>
        </p:spPr>
        <p:txBody>
          <a:bodyPr wrap="square" lIns="0" tIns="0" rIns="0" bIns="0" rtlCol="0" anchor="ctr"/>
          <a:lstStyle/>
          <a:p>
            <a:pPr indent="0" marL="0">
              <a:lnSpc>
                <a:spcPts val="1800"/>
              </a:lnSpc>
              <a:buNone/>
            </a:pPr>
            <a:r>
              <a:rPr lang="en-US" sz="1250" dirty="0">
                <a:solidFill>
                  <a:srgbClr val="5D6B7A"/>
                </a:solidFill>
                <a:latin typeface="Calibri" pitchFamily="34" charset="0"/>
                <a:ea typeface="Calibri" pitchFamily="34" charset="-122"/>
                <a:cs typeface="Calibri" pitchFamily="34" charset="-120"/>
              </a:rPr>
              <a:t>Unsupported-claim rate, citation resolvability, refusal correctness on questions the corpus genuinely cannot answer, and agreement with a human reader.</a:t>
            </a:r>
            <a:endParaRPr lang="en-US" sz="1250" dirty="0"/>
          </a:p>
        </p:txBody>
      </p:sp>
      <p:sp>
        <p:nvSpPr>
          <p:cNvPr id="21" name="Text 19"/>
          <p:cNvSpPr/>
          <p:nvPr/>
        </p:nvSpPr>
        <p:spPr>
          <a:xfrm>
            <a:off x="594360" y="5440680"/>
            <a:ext cx="10881360" cy="457200"/>
          </a:xfrm>
          <a:prstGeom prst="rect">
            <a:avLst/>
          </a:prstGeom>
          <a:noFill/>
          <a:ln/>
        </p:spPr>
        <p:txBody>
          <a:bodyPr wrap="square" lIns="0" tIns="0" rIns="0" bIns="0" rtlCol="0" anchor="ctr"/>
          <a:lstStyle/>
          <a:p>
            <a:pPr indent="0" marL="0">
              <a:buNone/>
            </a:pPr>
            <a:r>
              <a:rPr lang="en-US" sz="1400" i="1" dirty="0">
                <a:solidFill>
                  <a:srgbClr val="2E5E7E"/>
                </a:solidFill>
                <a:latin typeface="Calibri" pitchFamily="34" charset="0"/>
                <a:ea typeface="Calibri" pitchFamily="34" charset="-122"/>
                <a:cs typeface="Calibri" pitchFamily="34" charset="-120"/>
              </a:rPr>
              <a:t>The instrument is the contribution today. The evidence about whether grounding reduces unsupported claims comes next.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63F"/>
        </a:solidFill>
      </p:bgPr>
    </p:bg>
    <p:spTree>
      <p:nvGrpSpPr>
        <p:cNvPr id="1" name=""/>
        <p:cNvGrpSpPr/>
        <p:nvPr/>
      </p:nvGrpSpPr>
      <p:grpSpPr>
        <a:xfrm>
          <a:off x="0" y="0"/>
          <a:ext cx="0" cy="0"/>
          <a:chOff x="0" y="0"/>
          <a:chExt cx="0" cy="0"/>
        </a:xfrm>
      </p:grpSpPr>
      <p:sp>
        <p:nvSpPr>
          <p:cNvPr id="2" name="Shape 0"/>
          <p:cNvSpPr/>
          <p:nvPr/>
        </p:nvSpPr>
        <p:spPr>
          <a:xfrm>
            <a:off x="9052560" y="3291840"/>
            <a:ext cx="4937760" cy="4937760"/>
          </a:xfrm>
          <a:prstGeom prst="ellipse">
            <a:avLst/>
          </a:prstGeom>
          <a:solidFill>
            <a:srgbClr val="2E5E7E">
              <a:alpha val="24000"/>
            </a:srgbClr>
          </a:solidFill>
          <a:ln w="12700">
            <a:solidFill>
              <a:srgbClr val="333333"/>
            </a:solidFill>
            <a:prstDash val="solid"/>
          </a:ln>
        </p:spPr>
      </p:sp>
      <p:sp>
        <p:nvSpPr>
          <p:cNvPr id="3" name="Text 1"/>
          <p:cNvSpPr/>
          <p:nvPr/>
        </p:nvSpPr>
        <p:spPr>
          <a:xfrm>
            <a:off x="1188720" y="1691640"/>
            <a:ext cx="8778240" cy="1645920"/>
          </a:xfrm>
          <a:prstGeom prst="rect">
            <a:avLst/>
          </a:prstGeom>
          <a:noFill/>
          <a:ln/>
        </p:spPr>
        <p:txBody>
          <a:bodyPr wrap="square" lIns="0" tIns="0" rIns="0" bIns="0" rtlCol="0" anchor="ctr"/>
          <a:lstStyle/>
          <a:p>
            <a:pPr indent="0" marL="0">
              <a:lnSpc>
                <a:spcPts val="5200"/>
              </a:lnSpc>
              <a:buNone/>
            </a:pPr>
            <a:r>
              <a:rPr lang="en-US" sz="3800" b="1" dirty="0">
                <a:solidFill>
                  <a:srgbClr val="FFFFFF"/>
                </a:solidFill>
                <a:latin typeface="Cambria" pitchFamily="34" charset="0"/>
                <a:ea typeface="Cambria" pitchFamily="34" charset="-122"/>
                <a:cs typeface="Cambria" pitchFamily="34" charset="-120"/>
              </a:rPr>
              <a:t>“The AI analyses;</a:t>
            </a:r>
            <a:endParaRPr lang="en-US" sz="3800" dirty="0"/>
          </a:p>
          <a:p>
            <a:pPr indent="0" marL="0">
              <a:lnSpc>
                <a:spcPts val="5200"/>
              </a:lnSpc>
              <a:buNone/>
            </a:pPr>
            <a:r>
              <a:rPr lang="en-US" sz="3800" b="1" dirty="0">
                <a:solidFill>
                  <a:srgbClr val="FFFFFF"/>
                </a:solidFill>
                <a:latin typeface="Cambria" pitchFamily="34" charset="0"/>
                <a:ea typeface="Cambria" pitchFamily="34" charset="-122"/>
                <a:cs typeface="Cambria" pitchFamily="34" charset="-120"/>
              </a:rPr>
              <a:t>the researcher decides.”</a:t>
            </a:r>
            <a:endParaRPr lang="en-US" sz="3800" dirty="0"/>
          </a:p>
        </p:txBody>
      </p:sp>
      <p:sp>
        <p:nvSpPr>
          <p:cNvPr id="4" name="Text 2"/>
          <p:cNvSpPr/>
          <p:nvPr/>
        </p:nvSpPr>
        <p:spPr>
          <a:xfrm>
            <a:off x="1188720" y="3566160"/>
            <a:ext cx="8778240" cy="457200"/>
          </a:xfrm>
          <a:prstGeom prst="rect">
            <a:avLst/>
          </a:prstGeom>
          <a:noFill/>
          <a:ln/>
        </p:spPr>
        <p:txBody>
          <a:bodyPr wrap="square" lIns="0" tIns="0" rIns="0" bIns="0" rtlCol="0" anchor="ctr"/>
          <a:lstStyle/>
          <a:p>
            <a:pPr indent="0" marL="0">
              <a:buNone/>
            </a:pPr>
            <a:r>
              <a:rPr lang="en-US" sz="1700" dirty="0">
                <a:solidFill>
                  <a:srgbClr val="C6D6E4"/>
                </a:solidFill>
                <a:latin typeface="Calibri" pitchFamily="34" charset="0"/>
                <a:ea typeface="Calibri" pitchFamily="34" charset="-122"/>
                <a:cs typeface="Calibri" pitchFamily="34" charset="-120"/>
              </a:rPr>
              <a:t>A system that can refuse is a system whose answers mean something.</a:t>
            </a:r>
            <a:endParaRPr lang="en-US" sz="1700" dirty="0"/>
          </a:p>
        </p:txBody>
      </p:sp>
      <p:sp>
        <p:nvSpPr>
          <p:cNvPr id="5" name="Text 3"/>
          <p:cNvSpPr/>
          <p:nvPr/>
        </p:nvSpPr>
        <p:spPr>
          <a:xfrm>
            <a:off x="1188720" y="4617720"/>
            <a:ext cx="8778240" cy="1188720"/>
          </a:xfrm>
          <a:prstGeom prst="rect">
            <a:avLst/>
          </a:prstGeom>
          <a:noFill/>
          <a:ln/>
        </p:spPr>
        <p:txBody>
          <a:bodyPr wrap="square" lIns="0" tIns="0" rIns="0" bIns="0" rtlCol="0" anchor="ctr"/>
          <a:lstStyle/>
          <a:p>
            <a:pPr indent="0" marL="0">
              <a:lnSpc>
                <a:spcPts val="2400"/>
              </a:lnSpc>
              <a:buNone/>
            </a:pPr>
            <a:r>
              <a:rPr lang="en-US" sz="1600" b="1" dirty="0">
                <a:solidFill>
                  <a:srgbClr val="D08C1E"/>
                </a:solidFill>
                <a:latin typeface="Calibri" pitchFamily="34" charset="0"/>
                <a:ea typeface="Calibri" pitchFamily="34" charset="-122"/>
                <a:cs typeface="Calibri" pitchFamily="34" charset="-120"/>
              </a:rPr>
              <a:t>Thank you — questions welcome</a:t>
            </a:r>
            <a:endParaRPr lang="en-US" sz="1600" dirty="0"/>
          </a:p>
          <a:p>
            <a:pPr indent="0" marL="0">
              <a:lnSpc>
                <a:spcPts val="2400"/>
              </a:lnSpc>
              <a:buNone/>
            </a:pPr>
            <a:r>
              <a:rPr lang="en-US" sz="1350" dirty="0">
                <a:solidFill>
                  <a:srgbClr val="FFFFFF"/>
                </a:solidFill>
                <a:latin typeface="Calibri" pitchFamily="34" charset="0"/>
                <a:ea typeface="Calibri" pitchFamily="34" charset="-122"/>
                <a:cs typeface="Calibri" pitchFamily="34" charset="-120"/>
              </a:rPr>
              <a:t>Matt Karimov  ·  [ affiliation ]  ·  [ email ]</a:t>
            </a:r>
            <a:endParaRPr lang="en-US" sz="1600" dirty="0"/>
          </a:p>
          <a:p>
            <a:pPr indent="0" marL="0">
              <a:lnSpc>
                <a:spcPts val="2400"/>
              </a:lnSpc>
              <a:buNone/>
            </a:pPr>
            <a:r>
              <a:rPr lang="en-US" sz="1300" dirty="0">
                <a:solidFill>
                  <a:srgbClr val="C6D6E4"/>
                </a:solidFill>
                <a:latin typeface="Calibri" pitchFamily="34" charset="0"/>
                <a:ea typeface="Calibri" pitchFamily="34" charset="-122"/>
                <a:cs typeface="Calibri" pitchFamily="34" charset="-120"/>
              </a:rPr>
              <a:t>Code and documentation: github.com/mattkari/source-grounded-rag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Source-Grounded Research Assistant</dc:title>
  <dc:subject>PptxGenJS Presentation</dc:subject>
  <dc:creator>ITCC-2026</dc:creator>
  <cp:lastModifiedBy>ITCC-2026</cp:lastModifiedBy>
  <cp:revision>1</cp:revision>
  <dcterms:created xsi:type="dcterms:W3CDTF">2026-08-12T06:59:13Z</dcterms:created>
  <dcterms:modified xsi:type="dcterms:W3CDTF">2026-08-12T06:59:13Z</dcterms:modified>
</cp:coreProperties>
</file>